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824" autoAdjust="0"/>
    <p:restoredTop sz="94660"/>
  </p:normalViewPr>
  <p:slideViewPr>
    <p:cSldViewPr snapToGrid="0">
      <p:cViewPr varScale="1">
        <p:scale>
          <a:sx n="70" d="100"/>
          <a:sy n="70" d="100"/>
        </p:scale>
        <p:origin x="58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cap="all"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2000">
                <a:latin typeface="Arial" panose="020B0604020202020204" pitchFamily="34" charset="0"/>
                <a:cs typeface="Arial" panose="020B0604020202020204" pitchFamily="34" charset="0"/>
              </a:rPr>
              <a:t>AI usage for learning purposes</a:t>
            </a:r>
          </a:p>
        </c:rich>
      </c:tx>
      <c:overlay val="0"/>
      <c:spPr>
        <a:noFill/>
        <a:ln>
          <a:noFill/>
        </a:ln>
        <a:effectLst/>
      </c:spPr>
      <c:txPr>
        <a:bodyPr rot="0" spcFirstLastPara="1" vertOverflow="ellipsis" vert="horz" wrap="square" anchor="ctr" anchorCtr="1"/>
        <a:lstStyle/>
        <a:p>
          <a:pPr>
            <a:defRPr sz="2000" b="1" i="0" u="none" strike="noStrike" kern="1200" cap="all"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6152-4061-B9CF-8606EC3FC182}"/>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2-6152-4061-B9CF-8606EC3FC182}"/>
              </c:ext>
            </c:extLst>
          </c:dPt>
          <c:dLbls>
            <c:dLbl>
              <c:idx val="0"/>
              <c:spPr>
                <a:noFill/>
                <a:ln>
                  <a:noFill/>
                </a:ln>
                <a:effectLst/>
              </c:spPr>
              <c:txPr>
                <a:bodyPr rot="0" spcFirstLastPara="1" vertOverflow="ellipsis" vert="horz" wrap="square" lIns="38100" tIns="19050" rIns="38100" bIns="19050" anchor="ctr" anchorCtr="1">
                  <a:spAutoFit/>
                </a:bodyPr>
                <a:lstStyle/>
                <a:p>
                  <a:pPr>
                    <a:defRPr sz="1500" b="1" i="0" u="none" strike="noStrike" kern="1200" spc="0" baseline="0">
                      <a:solidFill>
                        <a:schemeClr val="accent1"/>
                      </a:solidFill>
                      <a:latin typeface="Arial" panose="020B0604020202020204" pitchFamily="34" charset="0"/>
                      <a:ea typeface="+mn-ea"/>
                      <a:cs typeface="Arial" panose="020B0604020202020204" pitchFamily="34" charset="0"/>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1-6152-4061-B9CF-8606EC3FC182}"/>
                </c:ext>
              </c:extLst>
            </c:dLbl>
            <c:dLbl>
              <c:idx val="1"/>
              <c:spPr>
                <a:noFill/>
                <a:ln>
                  <a:noFill/>
                </a:ln>
                <a:effectLst/>
              </c:spPr>
              <c:txPr>
                <a:bodyPr rot="0" spcFirstLastPara="1" vertOverflow="ellipsis" vert="horz" wrap="square" lIns="38100" tIns="19050" rIns="38100" bIns="19050" anchor="ctr" anchorCtr="1">
                  <a:spAutoFit/>
                </a:bodyPr>
                <a:lstStyle/>
                <a:p>
                  <a:pPr>
                    <a:defRPr sz="1500" b="1" i="0" u="none" strike="noStrike" kern="1200" spc="0" baseline="0">
                      <a:solidFill>
                        <a:schemeClr val="accent2"/>
                      </a:solidFill>
                      <a:latin typeface="Arial" panose="020B0604020202020204" pitchFamily="34" charset="0"/>
                      <a:ea typeface="+mn-ea"/>
                      <a:cs typeface="Arial" panose="020B0604020202020204" pitchFamily="34" charset="0"/>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2-6152-4061-B9CF-8606EC3FC182}"/>
                </c:ext>
              </c:extLst>
            </c:dLbl>
            <c:spPr>
              <a:noFill/>
              <a:ln>
                <a:noFill/>
              </a:ln>
              <a:effectLst/>
            </c:spPr>
            <c:txPr>
              <a:bodyPr rot="0" spcFirstLastPara="1" vertOverflow="ellipsis" vert="horz" wrap="square" lIns="38100" tIns="19050" rIns="38100" bIns="19050" anchor="ctr" anchorCtr="1">
                <a:spAutoFit/>
              </a:bodyPr>
              <a:lstStyle/>
              <a:p>
                <a:pPr>
                  <a:defRPr sz="1500" b="1" i="0" u="none" strike="noStrike" kern="1200" spc="0" baseline="0">
                    <a:solidFill>
                      <a:schemeClr val="accent1"/>
                    </a:solidFill>
                    <a:latin typeface="Arial" panose="020B0604020202020204" pitchFamily="34" charset="0"/>
                    <a:ea typeface="+mn-ea"/>
                    <a:cs typeface="Arial" panose="020B0604020202020204" pitchFamily="34" charset="0"/>
                  </a:defRPr>
                </a:pPr>
                <a:endParaRPr lang="en-US"/>
              </a:p>
            </c:txPr>
            <c:dLblPos val="out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Least used AI for learning</c:v>
                </c:pt>
                <c:pt idx="1">
                  <c:v>Mostly used AI for learning</c:v>
                </c:pt>
              </c:strCache>
            </c:strRef>
          </c:cat>
          <c:val>
            <c:numRef>
              <c:f>Sheet1!$B$2:$B$3</c:f>
              <c:numCache>
                <c:formatCode>0%</c:formatCode>
                <c:ptCount val="2"/>
                <c:pt idx="0">
                  <c:v>0.19</c:v>
                </c:pt>
                <c:pt idx="1">
                  <c:v>0.81</c:v>
                </c:pt>
              </c:numCache>
            </c:numRef>
          </c:val>
          <c:extLst>
            <c:ext xmlns:c16="http://schemas.microsoft.com/office/drawing/2014/chart" uri="{C3380CC4-5D6E-409C-BE32-E72D297353CC}">
              <c16:uniqueId val="{00000000-6152-4061-B9CF-8606EC3FC182}"/>
            </c:ext>
          </c:extLst>
        </c:ser>
        <c:dLbls>
          <c:dLblPos val="outEnd"/>
          <c:showLegendKey val="0"/>
          <c:showVal val="0"/>
          <c:showCatName val="1"/>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a:t>Average Ratings (out of 5)</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percentStacked"/>
        <c:varyColors val="0"/>
        <c:ser>
          <c:idx val="0"/>
          <c:order val="0"/>
          <c:tx>
            <c:strRef>
              <c:f>Sheet1!$B$1</c:f>
              <c:strCache>
                <c:ptCount val="1"/>
                <c:pt idx="0">
                  <c:v>Sales</c:v>
                </c:pt>
              </c:strCache>
            </c:strRef>
          </c:tx>
          <c:spPr>
            <a:gradFill rotWithShape="1">
              <a:gsLst>
                <a:gs pos="0">
                  <a:schemeClr val="accent1">
                    <a:tint val="94000"/>
                    <a:satMod val="105000"/>
                    <a:lumMod val="102000"/>
                  </a:schemeClr>
                </a:gs>
                <a:gs pos="100000">
                  <a:schemeClr val="accent1">
                    <a:shade val="74000"/>
                    <a:satMod val="128000"/>
                    <a:lumMod val="100000"/>
                  </a:schemeClr>
                </a:gs>
              </a:gsLst>
              <a:lin ang="5400000" scaled="0"/>
            </a:gradFill>
            <a:ln>
              <a:noFill/>
            </a:ln>
            <a:effectLst>
              <a:outerShdw blurRad="57150" dist="19050" dir="5400000" algn="ctr" rotWithShape="0">
                <a:srgbClr val="000000">
                  <a:alpha val="63000"/>
                </a:srgbClr>
              </a:outerShdw>
            </a:effectLst>
            <a:sp3d/>
          </c:spPr>
          <c:invertIfNegative val="0"/>
          <c:dPt>
            <c:idx val="0"/>
            <c:invertIfNegative val="0"/>
            <c:bubble3D val="0"/>
            <c:spPr>
              <a:gradFill rotWithShape="1">
                <a:gsLst>
                  <a:gs pos="0">
                    <a:schemeClr val="accent1">
                      <a:tint val="94000"/>
                      <a:satMod val="105000"/>
                      <a:lumMod val="102000"/>
                    </a:schemeClr>
                  </a:gs>
                  <a:gs pos="100000">
                    <a:schemeClr val="accent1">
                      <a:shade val="74000"/>
                      <a:satMod val="128000"/>
                      <a:lumMod val="100000"/>
                    </a:schemeClr>
                  </a:gs>
                </a:gsLst>
                <a:lin ang="5400000" scaled="0"/>
              </a:gradFill>
              <a:ln>
                <a:noFill/>
              </a:ln>
              <a:effectLst>
                <a:outerShdw blurRad="57150" dist="19050" dir="5400000" algn="ctr" rotWithShape="0">
                  <a:srgbClr val="000000">
                    <a:alpha val="63000"/>
                  </a:srgbClr>
                </a:outerShdw>
              </a:effectLst>
              <a:sp3d/>
            </c:spPr>
            <c:extLst>
              <c:ext xmlns:c16="http://schemas.microsoft.com/office/drawing/2014/chart" uri="{C3380CC4-5D6E-409C-BE32-E72D297353CC}">
                <c16:uniqueId val="{00000001-6152-4061-B9CF-8606EC3FC182}"/>
              </c:ext>
            </c:extLst>
          </c:dPt>
          <c:dPt>
            <c:idx val="1"/>
            <c:invertIfNegative val="0"/>
            <c:bubble3D val="0"/>
            <c:spPr>
              <a:gradFill rotWithShape="1">
                <a:gsLst>
                  <a:gs pos="0">
                    <a:schemeClr val="accent1">
                      <a:tint val="94000"/>
                      <a:satMod val="105000"/>
                      <a:lumMod val="102000"/>
                    </a:schemeClr>
                  </a:gs>
                  <a:gs pos="100000">
                    <a:schemeClr val="accent1">
                      <a:shade val="74000"/>
                      <a:satMod val="128000"/>
                      <a:lumMod val="100000"/>
                    </a:schemeClr>
                  </a:gs>
                </a:gsLst>
                <a:lin ang="5400000" scaled="0"/>
              </a:gradFill>
              <a:ln>
                <a:noFill/>
              </a:ln>
              <a:effectLst>
                <a:outerShdw blurRad="57150" dist="19050" dir="5400000" algn="ctr" rotWithShape="0">
                  <a:srgbClr val="000000">
                    <a:alpha val="63000"/>
                  </a:srgbClr>
                </a:outerShdw>
              </a:effectLst>
              <a:sp3d/>
            </c:spPr>
            <c:extLst>
              <c:ext xmlns:c16="http://schemas.microsoft.com/office/drawing/2014/chart" uri="{C3380CC4-5D6E-409C-BE32-E72D297353CC}">
                <c16:uniqueId val="{00000002-6152-4061-B9CF-8606EC3FC182}"/>
              </c:ext>
            </c:extLst>
          </c:dPt>
          <c:dLbls>
            <c:dLbl>
              <c:idx val="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152-4061-B9CF-8606EC3FC182}"/>
                </c:ext>
              </c:extLst>
            </c:dLbl>
            <c:dLbl>
              <c:idx val="1"/>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152-4061-B9CF-8606EC3FC18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AI</c:v>
                </c:pt>
                <c:pt idx="1">
                  <c:v>Human Teachers</c:v>
                </c:pt>
              </c:strCache>
            </c:strRef>
          </c:cat>
          <c:val>
            <c:numRef>
              <c:f>Sheet1!$B$2:$B$3</c:f>
              <c:numCache>
                <c:formatCode>#,##0.00</c:formatCode>
                <c:ptCount val="2"/>
                <c:pt idx="0">
                  <c:v>3.81</c:v>
                </c:pt>
                <c:pt idx="1">
                  <c:v>3.76</c:v>
                </c:pt>
              </c:numCache>
            </c:numRef>
          </c:val>
          <c:extLst>
            <c:ext xmlns:c16="http://schemas.microsoft.com/office/drawing/2014/chart" uri="{C3380CC4-5D6E-409C-BE32-E72D297353CC}">
              <c16:uniqueId val="{00000000-6152-4061-B9CF-8606EC3FC182}"/>
            </c:ext>
          </c:extLst>
        </c:ser>
        <c:dLbls>
          <c:showLegendKey val="0"/>
          <c:showVal val="0"/>
          <c:showCatName val="0"/>
          <c:showSerName val="0"/>
          <c:showPercent val="0"/>
          <c:showBubbleSize val="0"/>
        </c:dLbls>
        <c:gapWidth val="150"/>
        <c:shape val="box"/>
        <c:axId val="100983887"/>
        <c:axId val="100983407"/>
        <c:axId val="0"/>
      </c:bar3DChart>
      <c:valAx>
        <c:axId val="100983407"/>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0983887"/>
        <c:crossBetween val="between"/>
      </c:valAx>
      <c:catAx>
        <c:axId val="100983887"/>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0983407"/>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baseline="0">
                <a:solidFill>
                  <a:schemeClr val="tx1">
                    <a:lumMod val="65000"/>
                    <a:lumOff val="35000"/>
                  </a:schemeClr>
                </a:solidFill>
                <a:latin typeface="+mn-lt"/>
                <a:ea typeface="+mn-ea"/>
                <a:cs typeface="+mn-cs"/>
              </a:defRPr>
            </a:pPr>
            <a:r>
              <a:rPr lang="en-US" sz="2000" dirty="0">
                <a:latin typeface="Arial" panose="020B0604020202020204" pitchFamily="34" charset="0"/>
                <a:cs typeface="Arial" panose="020B0604020202020204" pitchFamily="34" charset="0"/>
              </a:rPr>
              <a:t>Preference for Understanding Complex Concepts</a:t>
            </a:r>
          </a:p>
        </c:rich>
      </c:tx>
      <c:overlay val="0"/>
      <c:spPr>
        <a:noFill/>
        <a:ln>
          <a:noFill/>
        </a:ln>
        <a:effectLst/>
      </c:spPr>
      <c:txPr>
        <a:bodyPr rot="0" spcFirstLastPara="1" vertOverflow="ellipsis" vert="horz" wrap="square" anchor="ctr" anchorCtr="1"/>
        <a:lstStyle/>
        <a:p>
          <a:pPr>
            <a:defRPr sz="2128" b="1" i="0" u="none" strike="noStrike" kern="1200" cap="all"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Preference for Understanding Complex Concepts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F710-4C6E-90EE-26DC4BAAB7A7}"/>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2-F710-4C6E-90EE-26DC4BAAB7A7}"/>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F710-4C6E-90EE-26DC4BAAB7A7}"/>
              </c:ext>
            </c:extLst>
          </c:dPt>
          <c:dLbls>
            <c:dLbl>
              <c:idx val="0"/>
              <c:spPr>
                <a:noFill/>
                <a:ln>
                  <a:noFill/>
                </a:ln>
                <a:effectLst/>
              </c:spPr>
              <c:txPr>
                <a:bodyPr rot="0" spcFirstLastPara="1" vertOverflow="ellipsis" vert="horz" wrap="square" lIns="38100" tIns="19050" rIns="38100" bIns="19050" anchor="ctr" anchorCtr="1">
                  <a:spAutoFit/>
                </a:bodyPr>
                <a:lstStyle/>
                <a:p>
                  <a:pPr>
                    <a:defRPr sz="1500" b="1" i="0" u="none" strike="noStrike" kern="1200" spc="0" baseline="0">
                      <a:solidFill>
                        <a:schemeClr val="accent1"/>
                      </a:solidFill>
                      <a:latin typeface="Arial" panose="020B0604020202020204" pitchFamily="34" charset="0"/>
                      <a:ea typeface="+mn-ea"/>
                      <a:cs typeface="Arial" panose="020B0604020202020204" pitchFamily="34" charset="0"/>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1-F710-4C6E-90EE-26DC4BAAB7A7}"/>
                </c:ext>
              </c:extLst>
            </c:dLbl>
            <c:dLbl>
              <c:idx val="1"/>
              <c:spPr>
                <a:noFill/>
                <a:ln>
                  <a:noFill/>
                </a:ln>
                <a:effectLst/>
              </c:spPr>
              <c:txPr>
                <a:bodyPr rot="0" spcFirstLastPara="1" vertOverflow="ellipsis" vert="horz" wrap="square" lIns="38100" tIns="19050" rIns="38100" bIns="19050" anchor="ctr" anchorCtr="1">
                  <a:spAutoFit/>
                </a:bodyPr>
                <a:lstStyle/>
                <a:p>
                  <a:pPr>
                    <a:defRPr sz="1500" b="1" i="0" u="none" strike="noStrike" kern="1200" spc="0" baseline="0">
                      <a:solidFill>
                        <a:schemeClr val="accent2"/>
                      </a:solidFill>
                      <a:latin typeface="Arial" panose="020B0604020202020204" pitchFamily="34" charset="0"/>
                      <a:ea typeface="+mn-ea"/>
                      <a:cs typeface="Arial" panose="020B0604020202020204" pitchFamily="34" charset="0"/>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2-F710-4C6E-90EE-26DC4BAAB7A7}"/>
                </c:ext>
              </c:extLst>
            </c:dLbl>
            <c:dLbl>
              <c:idx val="2"/>
              <c:spPr>
                <a:noFill/>
                <a:ln>
                  <a:noFill/>
                </a:ln>
                <a:effectLst/>
              </c:spPr>
              <c:txPr>
                <a:bodyPr rot="0" spcFirstLastPara="1" vertOverflow="ellipsis" vert="horz" wrap="square" lIns="38100" tIns="19050" rIns="38100" bIns="19050" anchor="ctr" anchorCtr="1">
                  <a:spAutoFit/>
                </a:bodyPr>
                <a:lstStyle/>
                <a:p>
                  <a:pPr>
                    <a:defRPr sz="1500" b="1" i="0" u="none" strike="noStrike" kern="1200" spc="0" baseline="0">
                      <a:solidFill>
                        <a:schemeClr val="accent3"/>
                      </a:solidFill>
                      <a:latin typeface="Arial" panose="020B0604020202020204" pitchFamily="34" charset="0"/>
                      <a:ea typeface="+mn-ea"/>
                      <a:cs typeface="Arial" panose="020B0604020202020204" pitchFamily="34" charset="0"/>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3-F710-4C6E-90EE-26DC4BAAB7A7}"/>
                </c:ext>
              </c:extLst>
            </c:dLbl>
            <c:spPr>
              <a:noFill/>
              <a:ln>
                <a:noFill/>
              </a:ln>
              <a:effectLst/>
            </c:spPr>
            <c:txPr>
              <a:bodyPr rot="0" spcFirstLastPara="1" vertOverflow="ellipsis" vert="horz" wrap="square" lIns="38100" tIns="19050" rIns="38100" bIns="19050" anchor="ctr" anchorCtr="1">
                <a:spAutoFit/>
              </a:bodyPr>
              <a:lstStyle/>
              <a:p>
                <a:pPr>
                  <a:defRPr sz="1500" b="1" i="0" u="none" strike="noStrike" kern="1200" spc="0" baseline="0">
                    <a:solidFill>
                      <a:schemeClr val="accent1"/>
                    </a:solidFill>
                    <a:latin typeface="Arial" panose="020B0604020202020204" pitchFamily="34" charset="0"/>
                    <a:ea typeface="+mn-ea"/>
                    <a:cs typeface="Arial" panose="020B0604020202020204" pitchFamily="34" charset="0"/>
                  </a:defRPr>
                </a:pPr>
                <a:endParaRPr lang="en-US"/>
              </a:p>
            </c:txPr>
            <c:dLblPos val="out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Prefer Human Teachers</c:v>
                </c:pt>
                <c:pt idx="1">
                  <c:v>Prefer AI Tools</c:v>
                </c:pt>
                <c:pt idx="2">
                  <c:v>No Preference</c:v>
                </c:pt>
              </c:strCache>
            </c:strRef>
          </c:cat>
          <c:val>
            <c:numRef>
              <c:f>Sheet1!$B$2:$B$4</c:f>
              <c:numCache>
                <c:formatCode>0%</c:formatCode>
                <c:ptCount val="3"/>
                <c:pt idx="0">
                  <c:v>0.56999999999999995</c:v>
                </c:pt>
                <c:pt idx="1">
                  <c:v>0.24</c:v>
                </c:pt>
                <c:pt idx="2">
                  <c:v>0.19</c:v>
                </c:pt>
              </c:numCache>
            </c:numRef>
          </c:val>
          <c:extLst>
            <c:ext xmlns:c16="http://schemas.microsoft.com/office/drawing/2014/chart" uri="{C3380CC4-5D6E-409C-BE32-E72D297353CC}">
              <c16:uniqueId val="{00000000-F710-4C6E-90EE-26DC4BAAB7A7}"/>
            </c:ext>
          </c:extLst>
        </c:ser>
        <c:dLbls>
          <c:dLblPos val="outEnd"/>
          <c:showLegendKey val="0"/>
          <c:showVal val="0"/>
          <c:showCatName val="1"/>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baseline="0">
                <a:solidFill>
                  <a:schemeClr val="tx1">
                    <a:lumMod val="65000"/>
                    <a:lumOff val="35000"/>
                  </a:schemeClr>
                </a:solidFill>
                <a:latin typeface="+mn-lt"/>
                <a:ea typeface="+mn-ea"/>
                <a:cs typeface="+mn-cs"/>
              </a:defRPr>
            </a:pPr>
            <a:r>
              <a:rPr lang="en-US" sz="2000" b="1" i="0" dirty="0">
                <a:effectLst/>
                <a:latin typeface="Arial" panose="020B0604020202020204" pitchFamily="34" charset="0"/>
                <a:cs typeface="Arial" panose="020B0604020202020204" pitchFamily="34" charset="0"/>
              </a:rPr>
              <a:t>the Ideal Teaching Model?</a:t>
            </a:r>
          </a:p>
        </c:rich>
      </c:tx>
      <c:overlay val="0"/>
      <c:spPr>
        <a:noFill/>
        <a:ln>
          <a:noFill/>
        </a:ln>
        <a:effectLst/>
      </c:spPr>
      <c:txPr>
        <a:bodyPr rot="0" spcFirstLastPara="1" vertOverflow="ellipsis" vert="horz" wrap="square" anchor="ctr" anchorCtr="1"/>
        <a:lstStyle/>
        <a:p>
          <a:pPr>
            <a:defRPr sz="2128" b="1" i="0" u="none" strike="noStrike" kern="1200" cap="all"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The Ideal Teaching Model?</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F710-4C6E-90EE-26DC4BAAB7A7}"/>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2-F710-4C6E-90EE-26DC4BAAB7A7}"/>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F710-4C6E-90EE-26DC4BAAB7A7}"/>
              </c:ext>
            </c:extLst>
          </c:dPt>
          <c:dLbls>
            <c:dLbl>
              <c:idx val="0"/>
              <c:layout>
                <c:manualLayout>
                  <c:x val="-9.1275780742731277E-4"/>
                  <c:y val="-2.960760136698637E-3"/>
                </c:manualLayout>
              </c:layout>
              <c:spPr>
                <a:noFill/>
                <a:ln>
                  <a:noFill/>
                </a:ln>
                <a:effectLst/>
              </c:spPr>
              <c:txPr>
                <a:bodyPr rot="0" spcFirstLastPara="1" vertOverflow="ellipsis" vert="horz" wrap="square" lIns="38100" tIns="19050" rIns="38100" bIns="19050" anchor="ctr" anchorCtr="1">
                  <a:spAutoFit/>
                </a:bodyPr>
                <a:lstStyle/>
                <a:p>
                  <a:pPr>
                    <a:defRPr sz="1500" b="1" i="0" u="none" strike="noStrike" kern="1200" spc="0" baseline="0">
                      <a:solidFill>
                        <a:schemeClr val="accent1"/>
                      </a:solidFill>
                      <a:latin typeface="Arial" panose="020B0604020202020204" pitchFamily="34" charset="0"/>
                      <a:ea typeface="+mn-ea"/>
                      <a:cs typeface="Arial" panose="020B0604020202020204" pitchFamily="34" charset="0"/>
                    </a:defRPr>
                  </a:pPr>
                  <a:endParaRPr lang="en-US"/>
                </a:p>
              </c:txPr>
              <c:dLblPos val="bestFit"/>
              <c:showLegendKey val="0"/>
              <c:showVal val="0"/>
              <c:showCatName val="1"/>
              <c:showSerName val="0"/>
              <c:showPercent val="0"/>
              <c:showBubbleSize val="0"/>
              <c:extLst>
                <c:ext xmlns:c15="http://schemas.microsoft.com/office/drawing/2012/chart" uri="{CE6537A1-D6FC-4f65-9D91-7224C49458BB}">
                  <c15:layout>
                    <c:manualLayout>
                      <c:w val="0.30435552565982826"/>
                      <c:h val="0.21317472984229408"/>
                    </c:manualLayout>
                  </c15:layout>
                </c:ext>
                <c:ext xmlns:c16="http://schemas.microsoft.com/office/drawing/2014/chart" uri="{C3380CC4-5D6E-409C-BE32-E72D297353CC}">
                  <c16:uniqueId val="{00000001-F710-4C6E-90EE-26DC4BAAB7A7}"/>
                </c:ext>
              </c:extLst>
            </c:dLbl>
            <c:dLbl>
              <c:idx val="1"/>
              <c:spPr>
                <a:noFill/>
                <a:ln>
                  <a:noFill/>
                </a:ln>
                <a:effectLst/>
              </c:spPr>
              <c:txPr>
                <a:bodyPr rot="0" spcFirstLastPara="1" vertOverflow="ellipsis" vert="horz" wrap="square" lIns="38100" tIns="19050" rIns="38100" bIns="19050" anchor="ctr" anchorCtr="1">
                  <a:spAutoFit/>
                </a:bodyPr>
                <a:lstStyle/>
                <a:p>
                  <a:pPr>
                    <a:defRPr sz="1500" b="1" i="0" u="none" strike="noStrike" kern="1200" spc="0" baseline="0">
                      <a:solidFill>
                        <a:schemeClr val="accent2"/>
                      </a:solidFill>
                      <a:latin typeface="Arial" panose="020B0604020202020204" pitchFamily="34" charset="0"/>
                      <a:ea typeface="+mn-ea"/>
                      <a:cs typeface="Arial" panose="020B0604020202020204" pitchFamily="34" charset="0"/>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2-F710-4C6E-90EE-26DC4BAAB7A7}"/>
                </c:ext>
              </c:extLst>
            </c:dLbl>
            <c:dLbl>
              <c:idx val="2"/>
              <c:spPr>
                <a:noFill/>
                <a:ln>
                  <a:noFill/>
                </a:ln>
                <a:effectLst/>
              </c:spPr>
              <c:txPr>
                <a:bodyPr rot="0" spcFirstLastPara="1" vertOverflow="ellipsis" vert="horz" wrap="square" lIns="38100" tIns="19050" rIns="38100" bIns="19050" anchor="ctr" anchorCtr="1">
                  <a:spAutoFit/>
                </a:bodyPr>
                <a:lstStyle/>
                <a:p>
                  <a:pPr>
                    <a:defRPr sz="1500" b="1" i="0" u="none" strike="noStrike" kern="1200" spc="0" baseline="0">
                      <a:solidFill>
                        <a:schemeClr val="accent3"/>
                      </a:solidFill>
                      <a:latin typeface="Arial" panose="020B0604020202020204" pitchFamily="34" charset="0"/>
                      <a:ea typeface="+mn-ea"/>
                      <a:cs typeface="Arial" panose="020B0604020202020204" pitchFamily="34" charset="0"/>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3-F710-4C6E-90EE-26DC4BAAB7A7}"/>
                </c:ext>
              </c:extLst>
            </c:dLbl>
            <c:spPr>
              <a:noFill/>
              <a:ln>
                <a:noFill/>
              </a:ln>
              <a:effectLst/>
            </c:spPr>
            <c:txPr>
              <a:bodyPr rot="0" spcFirstLastPara="1" vertOverflow="ellipsis" vert="horz" wrap="square" lIns="38100" tIns="19050" rIns="38100" bIns="19050" anchor="ctr" anchorCtr="1">
                <a:spAutoFit/>
              </a:bodyPr>
              <a:lstStyle/>
              <a:p>
                <a:pPr>
                  <a:defRPr sz="1500" b="1" i="0" u="none" strike="noStrike" kern="1200" spc="0" baseline="0">
                    <a:solidFill>
                      <a:schemeClr val="accent1"/>
                    </a:solidFill>
                    <a:latin typeface="Arial" panose="020B0604020202020204" pitchFamily="34" charset="0"/>
                    <a:ea typeface="+mn-ea"/>
                    <a:cs typeface="Arial" panose="020B0604020202020204" pitchFamily="34" charset="0"/>
                  </a:defRPr>
                </a:pPr>
                <a:endParaRPr lang="en-US"/>
              </a:p>
            </c:txPr>
            <c:dLblPos val="outEnd"/>
            <c:showLegendKey val="0"/>
            <c:showVal val="0"/>
            <c:showCatName val="1"/>
            <c:showSerName val="0"/>
            <c:showPercent val="0"/>
            <c:showBubbleSize val="0"/>
            <c:showLeaderLines val="0"/>
            <c:extLst>
              <c:ext xmlns:c15="http://schemas.microsoft.com/office/drawing/2012/chart" uri="{CE6537A1-D6FC-4f65-9D91-7224C49458BB}"/>
            </c:extLst>
          </c:dLbls>
          <c:cat>
            <c:strRef>
              <c:f>Sheet1!$A$2:$A$4</c:f>
              <c:strCache>
                <c:ptCount val="3"/>
                <c:pt idx="0">
                  <c:v>Balanced Blend        (50% AI + 50% Human)</c:v>
                </c:pt>
                <c:pt idx="1">
                  <c:v>Prefer Human (Traditional teaching)</c:v>
                </c:pt>
                <c:pt idx="2">
                  <c:v>Prefer AI           (AI-based learning)</c:v>
                </c:pt>
              </c:strCache>
            </c:strRef>
          </c:cat>
          <c:val>
            <c:numRef>
              <c:f>Sheet1!$B$2:$B$4</c:f>
              <c:numCache>
                <c:formatCode>0%</c:formatCode>
                <c:ptCount val="3"/>
                <c:pt idx="0">
                  <c:v>0.4</c:v>
                </c:pt>
                <c:pt idx="1">
                  <c:v>0.36</c:v>
                </c:pt>
                <c:pt idx="2">
                  <c:v>0.24</c:v>
                </c:pt>
              </c:numCache>
            </c:numRef>
          </c:val>
          <c:extLst>
            <c:ext xmlns:c16="http://schemas.microsoft.com/office/drawing/2014/chart" uri="{C3380CC4-5D6E-409C-BE32-E72D297353CC}">
              <c16:uniqueId val="{00000000-F710-4C6E-90EE-26DC4BAAB7A7}"/>
            </c:ext>
          </c:extLst>
        </c:ser>
        <c:dLbls>
          <c:dLblPos val="outEnd"/>
          <c:showLegendKey val="0"/>
          <c:showVal val="0"/>
          <c:showCatName val="1"/>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7">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86FAFE6D-DACA-462D-8A1B-C8DC5A3D8725}" type="datetimeFigureOut">
              <a:rPr lang="en-US" smtClean="0"/>
              <a:t>11/24/2025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9F2C66E4-9E7E-4C92-A610-AA530289E63A}" type="slidenum">
              <a:rPr lang="en-US" smtClean="0"/>
              <a:t>‹#›</a:t>
            </a:fld>
            <a:endParaRPr lang="en-US"/>
          </a:p>
        </p:txBody>
      </p:sp>
    </p:spTree>
    <p:extLst>
      <p:ext uri="{BB962C8B-B14F-4D97-AF65-F5344CB8AC3E}">
        <p14:creationId xmlns:p14="http://schemas.microsoft.com/office/powerpoint/2010/main" val="1754565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FAFE6D-DACA-462D-8A1B-C8DC5A3D8725}"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2C66E4-9E7E-4C92-A610-AA530289E63A}" type="slidenum">
              <a:rPr lang="en-US" smtClean="0"/>
              <a:t>‹#›</a:t>
            </a:fld>
            <a:endParaRPr lang="en-US"/>
          </a:p>
        </p:txBody>
      </p:sp>
    </p:spTree>
    <p:extLst>
      <p:ext uri="{BB962C8B-B14F-4D97-AF65-F5344CB8AC3E}">
        <p14:creationId xmlns:p14="http://schemas.microsoft.com/office/powerpoint/2010/main" val="101830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6FAFE6D-DACA-462D-8A1B-C8DC5A3D8725}"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2C66E4-9E7E-4C92-A610-AA530289E63A}" type="slidenum">
              <a:rPr lang="en-US" smtClean="0"/>
              <a:t>‹#›</a:t>
            </a:fld>
            <a:endParaRPr lang="en-US"/>
          </a:p>
        </p:txBody>
      </p:sp>
    </p:spTree>
    <p:extLst>
      <p:ext uri="{BB962C8B-B14F-4D97-AF65-F5344CB8AC3E}">
        <p14:creationId xmlns:p14="http://schemas.microsoft.com/office/powerpoint/2010/main" val="2311574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FAFE6D-DACA-462D-8A1B-C8DC5A3D8725}"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2C66E4-9E7E-4C92-A610-AA530289E63A}" type="slidenum">
              <a:rPr lang="en-US" smtClean="0"/>
              <a:t>‹#›</a:t>
            </a:fld>
            <a:endParaRPr lang="en-US"/>
          </a:p>
        </p:txBody>
      </p:sp>
    </p:spTree>
    <p:extLst>
      <p:ext uri="{BB962C8B-B14F-4D97-AF65-F5344CB8AC3E}">
        <p14:creationId xmlns:p14="http://schemas.microsoft.com/office/powerpoint/2010/main" val="2658647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FAFE6D-DACA-462D-8A1B-C8DC5A3D8725}" type="datetimeFigureOut">
              <a:rPr lang="en-US" smtClean="0"/>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F2C66E4-9E7E-4C92-A610-AA530289E63A}" type="slidenum">
              <a:rPr lang="en-US" smtClean="0"/>
              <a:t>‹#›</a:t>
            </a:fld>
            <a:endParaRPr lang="en-US"/>
          </a:p>
        </p:txBody>
      </p:sp>
    </p:spTree>
    <p:extLst>
      <p:ext uri="{BB962C8B-B14F-4D97-AF65-F5344CB8AC3E}">
        <p14:creationId xmlns:p14="http://schemas.microsoft.com/office/powerpoint/2010/main" val="1592458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FAFE6D-DACA-462D-8A1B-C8DC5A3D8725}" type="datetimeFigureOut">
              <a:rPr lang="en-US" smtClean="0"/>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F2C66E4-9E7E-4C92-A610-AA530289E63A}" type="slidenum">
              <a:rPr lang="en-US" smtClean="0"/>
              <a:t>‹#›</a:t>
            </a:fld>
            <a:endParaRPr lang="en-US"/>
          </a:p>
        </p:txBody>
      </p:sp>
    </p:spTree>
    <p:extLst>
      <p:ext uri="{BB962C8B-B14F-4D97-AF65-F5344CB8AC3E}">
        <p14:creationId xmlns:p14="http://schemas.microsoft.com/office/powerpoint/2010/main" val="1516378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FAFE6D-DACA-462D-8A1B-C8DC5A3D8725}" type="datetimeFigureOut">
              <a:rPr lang="en-US" smtClean="0"/>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F2C66E4-9E7E-4C92-A610-AA530289E63A}" type="slidenum">
              <a:rPr lang="en-US" smtClean="0"/>
              <a:t>‹#›</a:t>
            </a:fld>
            <a:endParaRPr lang="en-US"/>
          </a:p>
        </p:txBody>
      </p:sp>
    </p:spTree>
    <p:extLst>
      <p:ext uri="{BB962C8B-B14F-4D97-AF65-F5344CB8AC3E}">
        <p14:creationId xmlns:p14="http://schemas.microsoft.com/office/powerpoint/2010/main" val="801251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6FAFE6D-DACA-462D-8A1B-C8DC5A3D8725}"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2C66E4-9E7E-4C92-A610-AA530289E63A}" type="slidenum">
              <a:rPr lang="en-US" smtClean="0"/>
              <a:t>‹#›</a:t>
            </a:fld>
            <a:endParaRPr lang="en-US"/>
          </a:p>
        </p:txBody>
      </p:sp>
    </p:spTree>
    <p:extLst>
      <p:ext uri="{BB962C8B-B14F-4D97-AF65-F5344CB8AC3E}">
        <p14:creationId xmlns:p14="http://schemas.microsoft.com/office/powerpoint/2010/main" val="1201970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6FAFE6D-DACA-462D-8A1B-C8DC5A3D8725}"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2C66E4-9E7E-4C92-A610-AA530289E63A}" type="slidenum">
              <a:rPr lang="en-US" smtClean="0"/>
              <a:t>‹#›</a:t>
            </a:fld>
            <a:endParaRPr lang="en-US"/>
          </a:p>
        </p:txBody>
      </p:sp>
    </p:spTree>
    <p:extLst>
      <p:ext uri="{BB962C8B-B14F-4D97-AF65-F5344CB8AC3E}">
        <p14:creationId xmlns:p14="http://schemas.microsoft.com/office/powerpoint/2010/main" val="83439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6FAFE6D-DACA-462D-8A1B-C8DC5A3D8725}"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2C66E4-9E7E-4C92-A610-AA530289E63A}" type="slidenum">
              <a:rPr lang="en-US" smtClean="0"/>
              <a:t>‹#›</a:t>
            </a:fld>
            <a:endParaRPr lang="en-US"/>
          </a:p>
        </p:txBody>
      </p:sp>
    </p:spTree>
    <p:extLst>
      <p:ext uri="{BB962C8B-B14F-4D97-AF65-F5344CB8AC3E}">
        <p14:creationId xmlns:p14="http://schemas.microsoft.com/office/powerpoint/2010/main" val="1367826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6FAFE6D-DACA-462D-8A1B-C8DC5A3D8725}"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2C66E4-9E7E-4C92-A610-AA530289E63A}" type="slidenum">
              <a:rPr lang="en-US" smtClean="0"/>
              <a:t>‹#›</a:t>
            </a:fld>
            <a:endParaRPr lang="en-US"/>
          </a:p>
        </p:txBody>
      </p:sp>
    </p:spTree>
    <p:extLst>
      <p:ext uri="{BB962C8B-B14F-4D97-AF65-F5344CB8AC3E}">
        <p14:creationId xmlns:p14="http://schemas.microsoft.com/office/powerpoint/2010/main" val="39008213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6FAFE6D-DACA-462D-8A1B-C8DC5A3D8725}"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2C66E4-9E7E-4C92-A610-AA530289E63A}"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044100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6FAFE6D-DACA-462D-8A1B-C8DC5A3D8725}"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2C66E4-9E7E-4C92-A610-AA530289E63A}" type="slidenum">
              <a:rPr lang="en-US" smtClean="0"/>
              <a:t>‹#›</a:t>
            </a:fld>
            <a:endParaRPr lang="en-US"/>
          </a:p>
        </p:txBody>
      </p:sp>
    </p:spTree>
    <p:extLst>
      <p:ext uri="{BB962C8B-B14F-4D97-AF65-F5344CB8AC3E}">
        <p14:creationId xmlns:p14="http://schemas.microsoft.com/office/powerpoint/2010/main" val="35914443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86FAFE6D-DACA-462D-8A1B-C8DC5A3D8725}" type="datetimeFigureOut">
              <a:rPr lang="en-US" smtClean="0"/>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F2C66E4-9E7E-4C92-A610-AA530289E63A}" type="slidenum">
              <a:rPr lang="en-US" smtClean="0"/>
              <a:t>‹#›</a:t>
            </a:fld>
            <a:endParaRPr lang="en-US"/>
          </a:p>
        </p:txBody>
      </p:sp>
    </p:spTree>
    <p:extLst>
      <p:ext uri="{BB962C8B-B14F-4D97-AF65-F5344CB8AC3E}">
        <p14:creationId xmlns:p14="http://schemas.microsoft.com/office/powerpoint/2010/main" val="110826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86FAFE6D-DACA-462D-8A1B-C8DC5A3D8725}" type="datetimeFigureOut">
              <a:rPr lang="en-US" smtClean="0"/>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F2C66E4-9E7E-4C92-A610-AA530289E63A}" type="slidenum">
              <a:rPr lang="en-US" smtClean="0"/>
              <a:t>‹#›</a:t>
            </a:fld>
            <a:endParaRPr lang="en-US"/>
          </a:p>
        </p:txBody>
      </p:sp>
    </p:spTree>
    <p:extLst>
      <p:ext uri="{BB962C8B-B14F-4D97-AF65-F5344CB8AC3E}">
        <p14:creationId xmlns:p14="http://schemas.microsoft.com/office/powerpoint/2010/main" val="15138685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FAFE6D-DACA-462D-8A1B-C8DC5A3D8725}"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2C66E4-9E7E-4C92-A610-AA530289E63A}" type="slidenum">
              <a:rPr lang="en-US" smtClean="0"/>
              <a:t>‹#›</a:t>
            </a:fld>
            <a:endParaRPr lang="en-US"/>
          </a:p>
        </p:txBody>
      </p:sp>
    </p:spTree>
    <p:extLst>
      <p:ext uri="{BB962C8B-B14F-4D97-AF65-F5344CB8AC3E}">
        <p14:creationId xmlns:p14="http://schemas.microsoft.com/office/powerpoint/2010/main" val="253900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FAFE6D-DACA-462D-8A1B-C8DC5A3D8725}"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2C66E4-9E7E-4C92-A610-AA530289E63A}" type="slidenum">
              <a:rPr lang="en-US" smtClean="0"/>
              <a:t>‹#›</a:t>
            </a:fld>
            <a:endParaRPr lang="en-US"/>
          </a:p>
        </p:txBody>
      </p:sp>
    </p:spTree>
    <p:extLst>
      <p:ext uri="{BB962C8B-B14F-4D97-AF65-F5344CB8AC3E}">
        <p14:creationId xmlns:p14="http://schemas.microsoft.com/office/powerpoint/2010/main" val="3161609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6FAFE6D-DACA-462D-8A1B-C8DC5A3D8725}" type="datetimeFigureOut">
              <a:rPr lang="en-US" smtClean="0"/>
              <a:t>11/24/2025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F2C66E4-9E7E-4C92-A610-AA530289E63A}" type="slidenum">
              <a:rPr lang="en-US" smtClean="0"/>
              <a:t>‹#›</a:t>
            </a:fld>
            <a:endParaRPr lang="en-US"/>
          </a:p>
        </p:txBody>
      </p:sp>
    </p:spTree>
    <p:extLst>
      <p:ext uri="{BB962C8B-B14F-4D97-AF65-F5344CB8AC3E}">
        <p14:creationId xmlns:p14="http://schemas.microsoft.com/office/powerpoint/2010/main" val="14749293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hart" Target="../charts/chart1.xml"/><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96328" y="1084217"/>
            <a:ext cx="8791575" cy="808884"/>
          </a:xfrm>
        </p:spPr>
        <p:txBody>
          <a:bodyPr>
            <a:noAutofit/>
          </a:bodyPr>
          <a:lstStyle/>
          <a:p>
            <a:r>
              <a:rPr lang="en-US" sz="5400" b="1" dirty="0">
                <a:latin typeface="Arial" panose="020B0604020202020204" pitchFamily="34" charset="0"/>
                <a:cs typeface="Arial" panose="020B0604020202020204" pitchFamily="34" charset="0"/>
              </a:rPr>
              <a:t>AI </a:t>
            </a:r>
            <a:r>
              <a:rPr lang="en-US" sz="5400" b="1" dirty="0">
                <a:latin typeface="Times New Roman" panose="02020603050405020304" pitchFamily="18" charset="0"/>
                <a:cs typeface="Times New Roman" panose="02020603050405020304" pitchFamily="18" charset="0"/>
              </a:rPr>
              <a:t>vs</a:t>
            </a:r>
            <a:r>
              <a:rPr lang="en-US" sz="5400" b="1" dirty="0">
                <a:latin typeface="Arial" panose="020B0604020202020204" pitchFamily="34" charset="0"/>
                <a:cs typeface="Arial" panose="020B0604020202020204" pitchFamily="34" charset="0"/>
              </a:rPr>
              <a:t> HUMAN TEACHING</a:t>
            </a:r>
            <a:endParaRPr lang="en-US" sz="5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832519" y="5525498"/>
            <a:ext cx="5519192" cy="656454"/>
          </a:xfrm>
        </p:spPr>
        <p:txBody>
          <a:bodyPr>
            <a:noAutofit/>
          </a:bodyPr>
          <a:lstStyle/>
          <a:p>
            <a:r>
              <a:rPr lang="en-US" sz="2400" b="1" dirty="0">
                <a:latin typeface="Arial" panose="020B0604020202020204" pitchFamily="34" charset="0"/>
                <a:cs typeface="Arial" panose="020B0604020202020204" pitchFamily="34" charset="0"/>
              </a:rPr>
              <a:t>What Do Students Prefer?</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3376" t="16129" r="12078" b="7680"/>
          <a:stretch/>
        </p:blipFill>
        <p:spPr>
          <a:xfrm>
            <a:off x="3409406" y="2105327"/>
            <a:ext cx="5579880" cy="3207945"/>
          </a:xfrm>
          <a:prstGeom prst="rect">
            <a:avLst/>
          </a:prstGeom>
        </p:spPr>
      </p:pic>
    </p:spTree>
    <p:extLst>
      <p:ext uri="{BB962C8B-B14F-4D97-AF65-F5344CB8AC3E}">
        <p14:creationId xmlns:p14="http://schemas.microsoft.com/office/powerpoint/2010/main" val="204251641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1000"/>
                                        <p:tgtEl>
                                          <p:spTgt spid="3">
                                            <p:txEl>
                                              <p:pRg st="0" end="0"/>
                                            </p:txEl>
                                          </p:spTgt>
                                        </p:tgtEl>
                                      </p:cBhvr>
                                    </p:animEffect>
                                    <p:anim calcmode="lin" valueType="num">
                                      <p:cBhvr>
                                        <p:cTn id="20"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9349" y="376471"/>
            <a:ext cx="9728062" cy="766145"/>
          </a:xfrm>
        </p:spPr>
        <p:txBody>
          <a:bodyPr>
            <a:normAutofit/>
          </a:bodyPr>
          <a:lstStyle/>
          <a:p>
            <a:r>
              <a:rPr lang="en-US" sz="2400" b="1" dirty="0">
                <a:latin typeface="Times New Roman" panose="02020603050405020304" pitchFamily="18" charset="0"/>
                <a:cs typeface="Times New Roman" panose="02020603050405020304" pitchFamily="18" charset="0"/>
              </a:rPr>
              <a:t>Group</a:t>
            </a:r>
            <a:r>
              <a:rPr lang="en-US" sz="2400" b="1" dirty="0">
                <a:latin typeface="Arial" panose="020B0604020202020204" pitchFamily="34" charset="0"/>
                <a:cs typeface="Arial" panose="020B0604020202020204" pitchFamily="34" charset="0"/>
              </a:rPr>
              <a:t> </a:t>
            </a:r>
            <a:r>
              <a:rPr lang="en-US" sz="2400" b="1" dirty="0">
                <a:latin typeface="Times New Roman" panose="02020603050405020304" pitchFamily="18" charset="0"/>
                <a:cs typeface="Times New Roman" panose="02020603050405020304" pitchFamily="18" charset="0"/>
              </a:rPr>
              <a:t>Members</a:t>
            </a:r>
            <a:r>
              <a:rPr lang="en-US" sz="2400" b="1" dirty="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481046" y="981206"/>
            <a:ext cx="9905999" cy="2400890"/>
          </a:xfrm>
        </p:spPr>
        <p:txBody>
          <a:bodyPr/>
          <a:lstStyle/>
          <a:p>
            <a:r>
              <a:rPr lang="en-US" sz="1800" dirty="0" err="1">
                <a:latin typeface="Arial" panose="020B0604020202020204" pitchFamily="34" charset="0"/>
                <a:cs typeface="Arial" panose="020B0604020202020204" pitchFamily="34" charset="0"/>
              </a:rPr>
              <a:t>Maham</a:t>
            </a:r>
            <a:r>
              <a:rPr lang="en-US" sz="1800" dirty="0">
                <a:latin typeface="Arial" panose="020B0604020202020204" pitchFamily="34" charset="0"/>
                <a:cs typeface="Arial" panose="020B0604020202020204" pitchFamily="34" charset="0"/>
              </a:rPr>
              <a:t> Zafar (182)</a:t>
            </a:r>
          </a:p>
          <a:p>
            <a:r>
              <a:rPr lang="en-US" sz="1800" dirty="0">
                <a:latin typeface="Arial" panose="020B0604020202020204" pitchFamily="34" charset="0"/>
                <a:cs typeface="Arial" panose="020B0604020202020204" pitchFamily="34" charset="0"/>
              </a:rPr>
              <a:t>Muhammad Ahmed Chaudhry (184)</a:t>
            </a:r>
          </a:p>
          <a:p>
            <a:r>
              <a:rPr lang="en-US" sz="1800" dirty="0">
                <a:latin typeface="Arial" panose="020B0604020202020204" pitchFamily="34" charset="0"/>
                <a:cs typeface="Arial" panose="020B0604020202020204" pitchFamily="34" charset="0"/>
              </a:rPr>
              <a:t>Nabeeha Shoaib (190) </a:t>
            </a:r>
          </a:p>
          <a:p>
            <a:r>
              <a:rPr lang="en-US" sz="1800" dirty="0" err="1">
                <a:latin typeface="Arial" panose="020B0604020202020204" pitchFamily="34" charset="0"/>
                <a:cs typeface="Arial" panose="020B0604020202020204" pitchFamily="34" charset="0"/>
              </a:rPr>
              <a:t>Isma</a:t>
            </a:r>
            <a:r>
              <a:rPr lang="en-US" sz="1800" dirty="0">
                <a:latin typeface="Arial" panose="020B0604020202020204" pitchFamily="34" charset="0"/>
                <a:cs typeface="Arial" panose="020B0604020202020204" pitchFamily="34" charset="0"/>
              </a:rPr>
              <a:t> Wasif (226)</a:t>
            </a:r>
          </a:p>
          <a:p>
            <a:r>
              <a:rPr lang="en-US" sz="1800" dirty="0" err="1">
                <a:latin typeface="Arial" panose="020B0604020202020204" pitchFamily="34" charset="0"/>
                <a:cs typeface="Arial" panose="020B0604020202020204" pitchFamily="34" charset="0"/>
              </a:rPr>
              <a:t>Anfaal</a:t>
            </a:r>
            <a:r>
              <a:rPr lang="en-US" sz="1800" dirty="0">
                <a:latin typeface="Arial" panose="020B0604020202020204" pitchFamily="34" charset="0"/>
                <a:cs typeface="Arial" panose="020B0604020202020204" pitchFamily="34" charset="0"/>
              </a:rPr>
              <a:t> Abbas (233)</a:t>
            </a:r>
          </a:p>
          <a:p>
            <a:endParaRPr lang="en-US" dirty="0"/>
          </a:p>
        </p:txBody>
      </p:sp>
      <p:sp>
        <p:nvSpPr>
          <p:cNvPr id="4" name="Title 1"/>
          <p:cNvSpPr txBox="1">
            <a:spLocks/>
          </p:cNvSpPr>
          <p:nvPr/>
        </p:nvSpPr>
        <p:spPr>
          <a:xfrm>
            <a:off x="1319349" y="3603758"/>
            <a:ext cx="9728062" cy="7661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400" b="1" dirty="0">
                <a:latin typeface="Arial" panose="020B0604020202020204" pitchFamily="34" charset="0"/>
                <a:cs typeface="Arial" panose="020B0604020202020204" pitchFamily="34" charset="0"/>
              </a:rPr>
              <a:t>Instructor:</a:t>
            </a:r>
          </a:p>
        </p:txBody>
      </p:sp>
      <p:sp>
        <p:nvSpPr>
          <p:cNvPr id="5" name="Content Placeholder 2"/>
          <p:cNvSpPr txBox="1">
            <a:spLocks/>
          </p:cNvSpPr>
          <p:nvPr/>
        </p:nvSpPr>
        <p:spPr>
          <a:xfrm>
            <a:off x="1481046" y="4242416"/>
            <a:ext cx="9905999" cy="191633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sz="1800" dirty="0">
                <a:latin typeface="Arial" panose="020B0604020202020204" pitchFamily="34" charset="0"/>
                <a:cs typeface="Arial" panose="020B0604020202020204" pitchFamily="34" charset="0"/>
              </a:rPr>
              <a:t>Ms. </a:t>
            </a:r>
            <a:r>
              <a:rPr lang="en-US" sz="1800" dirty="0" err="1">
                <a:latin typeface="Arial" panose="020B0604020202020204" pitchFamily="34" charset="0"/>
                <a:cs typeface="Arial" panose="020B0604020202020204" pitchFamily="34" charset="0"/>
              </a:rPr>
              <a:t>Ramsha</a:t>
            </a:r>
            <a:r>
              <a:rPr lang="en-US" sz="1800" dirty="0">
                <a:latin typeface="Arial" panose="020B0604020202020204" pitchFamily="34" charset="0"/>
                <a:cs typeface="Arial" panose="020B0604020202020204" pitchFamily="34" charset="0"/>
              </a:rPr>
              <a:t> Khalid</a:t>
            </a:r>
          </a:p>
          <a:p>
            <a:r>
              <a:rPr lang="en-US" sz="1800" dirty="0">
                <a:latin typeface="Arial" panose="020B0604020202020204" pitchFamily="34" charset="0"/>
                <a:cs typeface="Arial" panose="020B0604020202020204" pitchFamily="34" charset="0"/>
              </a:rPr>
              <a:t>Application of Information and Communication Technologies Lab</a:t>
            </a:r>
          </a:p>
          <a:p>
            <a:r>
              <a:rPr lang="en-US" sz="1800" dirty="0">
                <a:latin typeface="Arial" panose="020B0604020202020204" pitchFamily="34" charset="0"/>
                <a:cs typeface="Arial" panose="020B0604020202020204" pitchFamily="34" charset="0"/>
              </a:rPr>
              <a:t>Fall 2025</a:t>
            </a:r>
          </a:p>
          <a:p>
            <a:r>
              <a:rPr lang="en-US" sz="1800" dirty="0">
                <a:latin typeface="Arial" panose="020B0604020202020204" pitchFamily="34" charset="0"/>
                <a:cs typeface="Arial" panose="020B0604020202020204" pitchFamily="34" charset="0"/>
              </a:rPr>
              <a:t>Section D</a:t>
            </a:r>
          </a:p>
        </p:txBody>
      </p:sp>
    </p:spTree>
    <p:extLst>
      <p:ext uri="{BB962C8B-B14F-4D97-AF65-F5344CB8AC3E}">
        <p14:creationId xmlns:p14="http://schemas.microsoft.com/office/powerpoint/2010/main" val="423436191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1000"/>
                                        <p:tgtEl>
                                          <p:spTgt spid="4"/>
                                        </p:tgtEl>
                                      </p:cBhvr>
                                    </p:animEffect>
                                    <p:anim calcmode="lin" valueType="num">
                                      <p:cBhvr>
                                        <p:cTn id="32" dur="1000" fill="hold"/>
                                        <p:tgtEl>
                                          <p:spTgt spid="4"/>
                                        </p:tgtEl>
                                        <p:attrNameLst>
                                          <p:attrName>ppt_x</p:attrName>
                                        </p:attrNameLst>
                                      </p:cBhvr>
                                      <p:tavLst>
                                        <p:tav tm="0">
                                          <p:val>
                                            <p:strVal val="#ppt_x"/>
                                          </p:val>
                                        </p:tav>
                                        <p:tav tm="100000">
                                          <p:val>
                                            <p:strVal val="#ppt_x"/>
                                          </p:val>
                                        </p:tav>
                                      </p:tavLst>
                                    </p:anim>
                                    <p:anim calcmode="lin" valueType="num">
                                      <p:cBhvr>
                                        <p:cTn id="3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allAtOnce"/>
      <p:bldP spid="4"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7284" y="833672"/>
            <a:ext cx="9905998" cy="753082"/>
          </a:xfrm>
        </p:spPr>
        <p:txBody>
          <a:bodyPr>
            <a:normAutofit/>
          </a:bodyPr>
          <a:lstStyle/>
          <a:p>
            <a:r>
              <a:rPr lang="en-US" b="1" dirty="0" err="1">
                <a:latin typeface="Arial" panose="020B0604020202020204" pitchFamily="34" charset="0"/>
                <a:cs typeface="Arial" panose="020B0604020202020204" pitchFamily="34" charset="0"/>
              </a:rPr>
              <a:t>PUrPose</a:t>
            </a:r>
            <a:r>
              <a:rPr lang="en-US" b="1" dirty="0">
                <a:latin typeface="Arial" panose="020B0604020202020204" pitchFamily="34" charset="0"/>
                <a:cs typeface="Arial" panose="020B0604020202020204" pitchFamily="34" charset="0"/>
              </a:rPr>
              <a:t> of STUDY</a:t>
            </a:r>
          </a:p>
        </p:txBody>
      </p:sp>
      <p:sp>
        <p:nvSpPr>
          <p:cNvPr id="3" name="Content Placeholder 2"/>
          <p:cNvSpPr>
            <a:spLocks noGrp="1"/>
          </p:cNvSpPr>
          <p:nvPr>
            <p:ph idx="1"/>
          </p:nvPr>
        </p:nvSpPr>
        <p:spPr>
          <a:xfrm>
            <a:off x="1141413" y="1775011"/>
            <a:ext cx="5098865" cy="1734671"/>
          </a:xfrm>
        </p:spPr>
        <p:txBody>
          <a:bodyPr>
            <a:noAutofit/>
          </a:bodyPr>
          <a:lstStyle/>
          <a:p>
            <a:pPr marL="0" indent="0">
              <a:buNone/>
            </a:pPr>
            <a:r>
              <a:rPr lang="en-US" sz="2800" dirty="0">
                <a:latin typeface="Arial" panose="020B0604020202020204" pitchFamily="34" charset="0"/>
                <a:cs typeface="Arial" panose="020B0604020202020204" pitchFamily="34" charset="0"/>
              </a:rPr>
              <a:t>With the rise of AI tools, education is transforming rapidly. This study is particularly aimed to find if students prefer between AI-based teaching or human teaching methods.</a:t>
            </a:r>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l="18696" t="33947" r="20792"/>
          <a:stretch/>
        </p:blipFill>
        <p:spPr>
          <a:xfrm>
            <a:off x="6094412" y="1916203"/>
            <a:ext cx="4963326" cy="348279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00827293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235542" y="3977130"/>
            <a:ext cx="9905998" cy="7530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400" b="1" dirty="0">
                <a:latin typeface="Arial" panose="020B0604020202020204" pitchFamily="34" charset="0"/>
                <a:cs typeface="Arial" panose="020B0604020202020204" pitchFamily="34" charset="0"/>
              </a:rPr>
              <a:t>KEY QUESTIONS ASKED IN </a:t>
            </a:r>
            <a:r>
              <a:rPr lang="en-US" sz="2400" b="1" dirty="0" err="1">
                <a:latin typeface="Arial" panose="020B0604020202020204" pitchFamily="34" charset="0"/>
                <a:cs typeface="Arial" panose="020B0604020202020204" pitchFamily="34" charset="0"/>
              </a:rPr>
              <a:t>SURvey</a:t>
            </a:r>
            <a:endParaRPr lang="en-US" sz="2400" b="1" dirty="0">
              <a:latin typeface="Arial" panose="020B0604020202020204" pitchFamily="34" charset="0"/>
              <a:cs typeface="Arial" panose="020B0604020202020204" pitchFamily="34" charset="0"/>
            </a:endParaRPr>
          </a:p>
        </p:txBody>
      </p:sp>
      <p:sp>
        <p:nvSpPr>
          <p:cNvPr id="7" name="Content Placeholder 2"/>
          <p:cNvSpPr txBox="1">
            <a:spLocks/>
          </p:cNvSpPr>
          <p:nvPr/>
        </p:nvSpPr>
        <p:spPr>
          <a:xfrm>
            <a:off x="1235541" y="4630425"/>
            <a:ext cx="9905999" cy="162483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en-US" sz="2000" dirty="0">
                <a:latin typeface="Arial" panose="020B0604020202020204" pitchFamily="34" charset="0"/>
                <a:cs typeface="Arial" panose="020B0604020202020204" pitchFamily="34" charset="0"/>
              </a:rPr>
              <a:t>Does students use AI-powered tools for learning?</a:t>
            </a:r>
          </a:p>
          <a:p>
            <a:pPr>
              <a:lnSpc>
                <a:spcPct val="100000"/>
              </a:lnSpc>
            </a:pPr>
            <a:r>
              <a:rPr lang="en-US" sz="2000" dirty="0">
                <a:latin typeface="Arial" panose="020B0604020202020204" pitchFamily="34" charset="0"/>
                <a:cs typeface="Arial" panose="020B0604020202020204" pitchFamily="34" charset="0"/>
              </a:rPr>
              <a:t>How effective students rate AI and Human teachers for learning?</a:t>
            </a:r>
          </a:p>
          <a:p>
            <a:pPr>
              <a:lnSpc>
                <a:spcPct val="100000"/>
              </a:lnSpc>
            </a:pPr>
            <a:r>
              <a:rPr lang="en-US" sz="2000" dirty="0">
                <a:latin typeface="Arial" panose="020B0604020202020204" pitchFamily="34" charset="0"/>
                <a:cs typeface="Arial" panose="020B0604020202020204" pitchFamily="34" charset="0"/>
              </a:rPr>
              <a:t>What does the students think about future teaching model?</a:t>
            </a:r>
          </a:p>
        </p:txBody>
      </p:sp>
      <p:sp>
        <p:nvSpPr>
          <p:cNvPr id="10" name="Title 1"/>
          <p:cNvSpPr>
            <a:spLocks noGrp="1"/>
          </p:cNvSpPr>
          <p:nvPr>
            <p:ph type="title"/>
          </p:nvPr>
        </p:nvSpPr>
        <p:spPr>
          <a:xfrm>
            <a:off x="1101073" y="672257"/>
            <a:ext cx="9905998" cy="753082"/>
          </a:xfrm>
        </p:spPr>
        <p:txBody>
          <a:bodyPr>
            <a:normAutofit/>
          </a:bodyPr>
          <a:lstStyle/>
          <a:p>
            <a:r>
              <a:rPr lang="en-US" b="1" dirty="0">
                <a:latin typeface="Arial" panose="020B0604020202020204" pitchFamily="34" charset="0"/>
                <a:cs typeface="Arial" panose="020B0604020202020204" pitchFamily="34" charset="0"/>
              </a:rPr>
              <a:t>SURVEY DETAILS</a:t>
            </a:r>
          </a:p>
        </p:txBody>
      </p:sp>
      <p:sp>
        <p:nvSpPr>
          <p:cNvPr id="11" name="Title 1"/>
          <p:cNvSpPr txBox="1">
            <a:spLocks/>
          </p:cNvSpPr>
          <p:nvPr/>
        </p:nvSpPr>
        <p:spPr>
          <a:xfrm>
            <a:off x="1235542" y="1380763"/>
            <a:ext cx="9905998" cy="7530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400" b="1" dirty="0">
                <a:latin typeface="Arial" panose="020B0604020202020204" pitchFamily="34" charset="0"/>
                <a:cs typeface="Arial" panose="020B0604020202020204" pitchFamily="34" charset="0"/>
              </a:rPr>
              <a:t>PLATFORM USED FOR SURVEY</a:t>
            </a:r>
          </a:p>
        </p:txBody>
      </p:sp>
      <p:sp>
        <p:nvSpPr>
          <p:cNvPr id="12" name="Content Placeholder 2"/>
          <p:cNvSpPr txBox="1">
            <a:spLocks/>
          </p:cNvSpPr>
          <p:nvPr/>
        </p:nvSpPr>
        <p:spPr>
          <a:xfrm>
            <a:off x="1235542" y="2034058"/>
            <a:ext cx="9905999" cy="1943072"/>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en-US" sz="2000" dirty="0">
                <a:latin typeface="Arial" panose="020B0604020202020204" pitchFamily="34" charset="0"/>
                <a:cs typeface="Arial" panose="020B0604020202020204" pitchFamily="34" charset="0"/>
              </a:rPr>
              <a:t>Google Forms</a:t>
            </a:r>
          </a:p>
          <a:p>
            <a:pPr>
              <a:lnSpc>
                <a:spcPct val="100000"/>
              </a:lnSpc>
            </a:pPr>
            <a:r>
              <a:rPr lang="en-US" sz="2000" dirty="0">
                <a:latin typeface="Arial" panose="020B0604020202020204" pitchFamily="34" charset="0"/>
                <a:cs typeface="Arial" panose="020B0604020202020204" pitchFamily="34" charset="0"/>
              </a:rPr>
              <a:t>10 questions asked in the survey.</a:t>
            </a:r>
          </a:p>
          <a:p>
            <a:pPr>
              <a:lnSpc>
                <a:spcPct val="100000"/>
              </a:lnSpc>
            </a:pPr>
            <a:r>
              <a:rPr lang="en-US" sz="2000" dirty="0">
                <a:latin typeface="Arial" panose="020B0604020202020204" pitchFamily="34" charset="0"/>
                <a:cs typeface="Arial" panose="020B0604020202020204" pitchFamily="34" charset="0"/>
              </a:rPr>
              <a:t>21 responses recorded in survey.</a:t>
            </a:r>
          </a:p>
          <a:p>
            <a:pPr>
              <a:lnSpc>
                <a:spcPct val="100000"/>
              </a:lnSpc>
            </a:pPr>
            <a:r>
              <a:rPr lang="en-US" sz="2000" dirty="0">
                <a:latin typeface="Arial" panose="020B0604020202020204" pitchFamily="34" charset="0"/>
                <a:cs typeface="Arial" panose="020B0604020202020204" pitchFamily="34" charset="0"/>
              </a:rPr>
              <a:t>Undergraduate students from first to fourth year were reached to get their feedback.</a:t>
            </a:r>
          </a:p>
        </p:txBody>
      </p:sp>
    </p:spTree>
    <p:extLst>
      <p:ext uri="{BB962C8B-B14F-4D97-AF65-F5344CB8AC3E}">
        <p14:creationId xmlns:p14="http://schemas.microsoft.com/office/powerpoint/2010/main" val="207512584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370324"/>
            <a:ext cx="9905998" cy="1478570"/>
          </a:xfrm>
        </p:spPr>
        <p:txBody>
          <a:bodyPr>
            <a:normAutofit/>
          </a:bodyPr>
          <a:lstStyle/>
          <a:p>
            <a:r>
              <a:rPr lang="en-US" b="1" dirty="0">
                <a:latin typeface="Arial" panose="020B0604020202020204" pitchFamily="34" charset="0"/>
                <a:cs typeface="Arial" panose="020B0604020202020204" pitchFamily="34" charset="0"/>
              </a:rPr>
              <a:t>AI Tools in Student Learning</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063023628"/>
              </p:ext>
            </p:extLst>
          </p:nvPr>
        </p:nvGraphicFramePr>
        <p:xfrm>
          <a:off x="641445" y="1848894"/>
          <a:ext cx="5904628" cy="3942306"/>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3151888" y="4360880"/>
            <a:ext cx="657197"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81%</a:t>
            </a:r>
          </a:p>
        </p:txBody>
      </p:sp>
      <p:sp>
        <p:nvSpPr>
          <p:cNvPr id="10" name="TextBox 9"/>
          <p:cNvSpPr txBox="1"/>
          <p:nvPr/>
        </p:nvSpPr>
        <p:spPr>
          <a:xfrm>
            <a:off x="3832734" y="3109349"/>
            <a:ext cx="657197"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19%</a:t>
            </a:r>
          </a:p>
        </p:txBody>
      </p:sp>
      <p:sp>
        <p:nvSpPr>
          <p:cNvPr id="11" name="Title 1"/>
          <p:cNvSpPr txBox="1">
            <a:spLocks/>
          </p:cNvSpPr>
          <p:nvPr/>
        </p:nvSpPr>
        <p:spPr>
          <a:xfrm>
            <a:off x="6621793" y="1848894"/>
            <a:ext cx="5570207" cy="5122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000" b="1" dirty="0">
                <a:latin typeface="Arial" panose="020B0604020202020204" pitchFamily="34" charset="0"/>
                <a:cs typeface="Arial" panose="020B0604020202020204" pitchFamily="34" charset="0"/>
              </a:rPr>
              <a:t>Most Popular AI Tools</a:t>
            </a:r>
          </a:p>
        </p:txBody>
      </p:sp>
      <p:sp>
        <p:nvSpPr>
          <p:cNvPr id="12" name="Content Placeholder 2"/>
          <p:cNvSpPr txBox="1">
            <a:spLocks/>
          </p:cNvSpPr>
          <p:nvPr/>
        </p:nvSpPr>
        <p:spPr>
          <a:xfrm>
            <a:off x="6670528" y="2361100"/>
            <a:ext cx="3832846" cy="171451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en-US" sz="1800" dirty="0" err="1">
                <a:latin typeface="Arial" panose="020B0604020202020204" pitchFamily="34" charset="0"/>
                <a:cs typeface="Arial" panose="020B0604020202020204" pitchFamily="34" charset="0"/>
              </a:rPr>
              <a:t>ChatGPT</a:t>
            </a:r>
            <a:endParaRPr lang="en-US" sz="1800" dirty="0">
              <a:latin typeface="Arial" panose="020B0604020202020204" pitchFamily="34" charset="0"/>
              <a:cs typeface="Arial" panose="020B0604020202020204" pitchFamily="34" charset="0"/>
            </a:endParaRPr>
          </a:p>
          <a:p>
            <a:pPr>
              <a:lnSpc>
                <a:spcPct val="100000"/>
              </a:lnSpc>
            </a:pPr>
            <a:r>
              <a:rPr lang="en-US" sz="1800" dirty="0">
                <a:latin typeface="Arial" panose="020B0604020202020204" pitchFamily="34" charset="0"/>
                <a:cs typeface="Arial" panose="020B0604020202020204" pitchFamily="34" charset="0"/>
              </a:rPr>
              <a:t>Google Gemini/Bard</a:t>
            </a:r>
          </a:p>
          <a:p>
            <a:pPr>
              <a:lnSpc>
                <a:spcPct val="100000"/>
              </a:lnSpc>
            </a:pPr>
            <a:r>
              <a:rPr lang="en-US" sz="1800" dirty="0" err="1">
                <a:latin typeface="Arial" panose="020B0604020202020204" pitchFamily="34" charset="0"/>
                <a:cs typeface="Arial" panose="020B0604020202020204" pitchFamily="34" charset="0"/>
              </a:rPr>
              <a:t>Youtube</a:t>
            </a:r>
            <a:r>
              <a:rPr lang="en-US" sz="1800" dirty="0">
                <a:latin typeface="Arial" panose="020B0604020202020204" pitchFamily="34" charset="0"/>
                <a:cs typeface="Arial" panose="020B0604020202020204" pitchFamily="34" charset="0"/>
              </a:rPr>
              <a:t> AI</a:t>
            </a:r>
          </a:p>
          <a:p>
            <a:pPr>
              <a:lnSpc>
                <a:spcPct val="100000"/>
              </a:lnSpc>
            </a:pPr>
            <a:r>
              <a:rPr lang="en-US" sz="1800" dirty="0" err="1">
                <a:latin typeface="Arial" panose="020B0604020202020204" pitchFamily="34" charset="0"/>
                <a:cs typeface="Arial" panose="020B0604020202020204" pitchFamily="34" charset="0"/>
              </a:rPr>
              <a:t>Grammarly</a:t>
            </a:r>
            <a:endParaRPr lang="en-US" sz="1800" dirty="0">
              <a:latin typeface="Arial" panose="020B0604020202020204" pitchFamily="34" charset="0"/>
              <a:cs typeface="Arial" panose="020B0604020202020204" pitchFamily="34" charset="0"/>
            </a:endParaRPr>
          </a:p>
        </p:txBody>
      </p:sp>
      <p:pic>
        <p:nvPicPr>
          <p:cNvPr id="19" name="Picture 18"/>
          <p:cNvPicPr>
            <a:picLocks noChangeAspect="1"/>
          </p:cNvPicPr>
          <p:nvPr/>
        </p:nvPicPr>
        <p:blipFill rotWithShape="1">
          <a:blip r:embed="rId3">
            <a:extLst>
              <a:ext uri="{BEBA8EAE-BF5A-486C-A8C5-ECC9F3942E4B}">
                <a14:imgProps xmlns:a14="http://schemas.microsoft.com/office/drawing/2010/main">
                  <a14:imgLayer r:embed="rId4">
                    <a14:imgEffect>
                      <a14:backgroundRemoval t="22547" b="80636" l="9614" r="86522"/>
                    </a14:imgEffect>
                  </a14:imgLayer>
                </a14:imgProps>
              </a:ext>
              <a:ext uri="{28A0092B-C50C-407E-A947-70E740481C1C}">
                <a14:useLocalDpi xmlns:a14="http://schemas.microsoft.com/office/drawing/2010/main" val="0"/>
              </a:ext>
            </a:extLst>
          </a:blip>
          <a:srcRect l="-1035" t="15286" r="3864" b="12102"/>
          <a:stretch/>
        </p:blipFill>
        <p:spPr>
          <a:xfrm>
            <a:off x="7690662" y="4481964"/>
            <a:ext cx="1178720" cy="902849"/>
          </a:xfrm>
          <a:prstGeom prst="rect">
            <a:avLst/>
          </a:prstGeom>
          <a:effectLst>
            <a:glow rad="63500">
              <a:schemeClr val="accent5">
                <a:satMod val="175000"/>
                <a:alpha val="40000"/>
              </a:schemeClr>
            </a:glow>
          </a:effectLst>
        </p:spPr>
      </p:pic>
      <p:sp>
        <p:nvSpPr>
          <p:cNvPr id="20" name="Content Placeholder 2"/>
          <p:cNvSpPr txBox="1">
            <a:spLocks/>
          </p:cNvSpPr>
          <p:nvPr/>
        </p:nvSpPr>
        <p:spPr>
          <a:xfrm>
            <a:off x="6869092" y="5384813"/>
            <a:ext cx="2948089" cy="755388"/>
          </a:xfrm>
          <a:prstGeom prst="rect">
            <a:avLst/>
          </a:prstGeom>
          <a:solidFill>
            <a:schemeClr val="bg1">
              <a:lumMod val="95000"/>
              <a:lumOff val="5000"/>
              <a:alpha val="70000"/>
            </a:schemeClr>
          </a:solidFill>
          <a:ln cap="flat">
            <a:solidFill>
              <a:schemeClr val="accent1"/>
            </a:solidFill>
          </a:ln>
          <a:effectLst>
            <a:glow rad="63500">
              <a:schemeClr val="accent5">
                <a:satMod val="175000"/>
                <a:alpha val="40000"/>
              </a:schemeClr>
            </a:glow>
          </a:effectLst>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100000"/>
              </a:lnSpc>
              <a:buNone/>
            </a:pPr>
            <a:r>
              <a:rPr lang="en-US" sz="2000" dirty="0">
                <a:latin typeface="Arial" panose="020B0604020202020204" pitchFamily="34" charset="0"/>
                <a:cs typeface="Arial" panose="020B0604020202020204" pitchFamily="34" charset="0"/>
              </a:rPr>
              <a:t>AI tools are becoming popular among students</a:t>
            </a:r>
          </a:p>
        </p:txBody>
      </p:sp>
    </p:spTree>
    <p:extLst>
      <p:ext uri="{BB962C8B-B14F-4D97-AF65-F5344CB8AC3E}">
        <p14:creationId xmlns:p14="http://schemas.microsoft.com/office/powerpoint/2010/main" val="56749376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1000"/>
                                        <p:tgtEl>
                                          <p:spTgt spid="19"/>
                                        </p:tgtEl>
                                      </p:cBhvr>
                                    </p:animEffect>
                                    <p:anim calcmode="lin" valueType="num">
                                      <p:cBhvr>
                                        <p:cTn id="44" dur="1000" fill="hold"/>
                                        <p:tgtEl>
                                          <p:spTgt spid="19"/>
                                        </p:tgtEl>
                                        <p:attrNameLst>
                                          <p:attrName>ppt_x</p:attrName>
                                        </p:attrNameLst>
                                      </p:cBhvr>
                                      <p:tavLst>
                                        <p:tav tm="0">
                                          <p:val>
                                            <p:strVal val="#ppt_x"/>
                                          </p:val>
                                        </p:tav>
                                        <p:tav tm="100000">
                                          <p:val>
                                            <p:strVal val="#ppt_x"/>
                                          </p:val>
                                        </p:tav>
                                      </p:tavLst>
                                    </p:anim>
                                    <p:anim calcmode="lin" valueType="num">
                                      <p:cBhvr>
                                        <p:cTn id="45"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6" grpId="0">
        <p:bldAsOne/>
      </p:bldGraphic>
      <p:bldP spid="8" grpId="0"/>
      <p:bldP spid="10" grpId="0"/>
      <p:bldP spid="11" grpId="0"/>
      <p:bldP spid="12" grpId="0"/>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004" y="370324"/>
            <a:ext cx="10131833" cy="1478570"/>
          </a:xfrm>
        </p:spPr>
        <p:txBody>
          <a:bodyPr>
            <a:normAutofit/>
          </a:bodyPr>
          <a:lstStyle/>
          <a:p>
            <a:r>
              <a:rPr lang="en-US" b="1" dirty="0">
                <a:latin typeface="Arial" panose="020B0604020202020204" pitchFamily="34" charset="0"/>
                <a:cs typeface="Arial" panose="020B0604020202020204" pitchFamily="34" charset="0"/>
              </a:rPr>
              <a:t>Effectiveness Ratings: </a:t>
            </a:r>
            <a:br>
              <a:rPr lang="en-US" b="1"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AI vs Human Teachers: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443442048"/>
              </p:ext>
            </p:extLst>
          </p:nvPr>
        </p:nvGraphicFramePr>
        <p:xfrm>
          <a:off x="641444" y="2333766"/>
          <a:ext cx="5193537" cy="3739487"/>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2028014" y="3635379"/>
            <a:ext cx="657197"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3.76</a:t>
            </a:r>
          </a:p>
        </p:txBody>
      </p:sp>
      <p:sp>
        <p:nvSpPr>
          <p:cNvPr id="10" name="TextBox 9"/>
          <p:cNvSpPr txBox="1"/>
          <p:nvPr/>
        </p:nvSpPr>
        <p:spPr>
          <a:xfrm>
            <a:off x="2177086" y="4761983"/>
            <a:ext cx="657197"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3.81</a:t>
            </a:r>
          </a:p>
        </p:txBody>
      </p:sp>
      <p:sp>
        <p:nvSpPr>
          <p:cNvPr id="12" name="Content Placeholder 2"/>
          <p:cNvSpPr txBox="1">
            <a:spLocks/>
          </p:cNvSpPr>
          <p:nvPr/>
        </p:nvSpPr>
        <p:spPr>
          <a:xfrm>
            <a:off x="6357019" y="2226378"/>
            <a:ext cx="4393712" cy="3187337"/>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en-US" sz="2000" dirty="0">
                <a:latin typeface="Arial" panose="020B0604020202020204" pitchFamily="34" charset="0"/>
                <a:cs typeface="Arial" panose="020B0604020202020204" pitchFamily="34" charset="0"/>
              </a:rPr>
              <a:t>Students rated AI based learning slightly higher (average rating 3.81/5) than human teaching (average rating 3.76/5)</a:t>
            </a:r>
          </a:p>
          <a:p>
            <a:pPr>
              <a:lnSpc>
                <a:spcPct val="100000"/>
              </a:lnSpc>
            </a:pPr>
            <a:r>
              <a:rPr lang="en-US" sz="2000" dirty="0">
                <a:latin typeface="Arial" panose="020B0604020202020204" pitchFamily="34" charset="0"/>
                <a:cs typeface="Arial" panose="020B0604020202020204" pitchFamily="34" charset="0"/>
              </a:rPr>
              <a:t>This indicate that while human teaching is viewed as effective for understanding complex concepts, AI is getting appreciated due to its convenience and accessibility.</a:t>
            </a:r>
          </a:p>
        </p:txBody>
      </p:sp>
    </p:spTree>
    <p:extLst>
      <p:ext uri="{BB962C8B-B14F-4D97-AF65-F5344CB8AC3E}">
        <p14:creationId xmlns:p14="http://schemas.microsoft.com/office/powerpoint/2010/main" val="252530224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6" grpId="0">
        <p:bldAsOne/>
      </p:bldGraphic>
      <p:bldP spid="8" grpId="0"/>
      <p:bldP spid="10"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370324"/>
            <a:ext cx="10131833" cy="1478570"/>
          </a:xfrm>
        </p:spPr>
        <p:txBody>
          <a:bodyPr>
            <a:normAutofit/>
          </a:bodyPr>
          <a:lstStyle/>
          <a:p>
            <a:r>
              <a:rPr lang="en-US" b="1" dirty="0">
                <a:latin typeface="Arial" panose="020B0604020202020204" pitchFamily="34" charset="0"/>
                <a:cs typeface="Arial" panose="020B0604020202020204" pitchFamily="34" charset="0"/>
              </a:rPr>
              <a:t>STUDENTS Learning </a:t>
            </a:r>
            <a:r>
              <a:rPr lang="en-US" b="1" dirty="0" err="1">
                <a:latin typeface="Arial" panose="020B0604020202020204" pitchFamily="34" charset="0"/>
                <a:cs typeface="Arial" panose="020B0604020202020204" pitchFamily="34" charset="0"/>
              </a:rPr>
              <a:t>preferenceS</a:t>
            </a:r>
            <a:endParaRPr lang="en-US" b="1" dirty="0">
              <a:latin typeface="Arial" panose="020B0604020202020204" pitchFamily="34" charset="0"/>
              <a:cs typeface="Arial" panose="020B0604020202020204" pitchFamily="34" charset="0"/>
            </a:endParaRPr>
          </a:p>
        </p:txBody>
      </p:sp>
      <p:sp>
        <p:nvSpPr>
          <p:cNvPr id="12" name="Content Placeholder 2"/>
          <p:cNvSpPr txBox="1">
            <a:spLocks/>
          </p:cNvSpPr>
          <p:nvPr/>
        </p:nvSpPr>
        <p:spPr>
          <a:xfrm>
            <a:off x="6879533" y="2787346"/>
            <a:ext cx="4393712" cy="3187337"/>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en-US" sz="2000" dirty="0">
                <a:latin typeface="Arial" panose="020B0604020202020204" pitchFamily="34" charset="0"/>
                <a:cs typeface="Arial" panose="020B0604020202020204" pitchFamily="34" charset="0"/>
              </a:rPr>
              <a:t>Despite similar effectiveness ratings, students trust human teachers more for understanding difficult topics.</a:t>
            </a:r>
          </a:p>
        </p:txBody>
      </p:sp>
      <p:graphicFrame>
        <p:nvGraphicFramePr>
          <p:cNvPr id="7" name="Chart 6"/>
          <p:cNvGraphicFramePr/>
          <p:nvPr>
            <p:extLst>
              <p:ext uri="{D42A27DB-BD31-4B8C-83A1-F6EECF244321}">
                <p14:modId xmlns:p14="http://schemas.microsoft.com/office/powerpoint/2010/main" val="3152850818"/>
              </p:ext>
            </p:extLst>
          </p:nvPr>
        </p:nvGraphicFramePr>
        <p:xfrm>
          <a:off x="701953" y="2051629"/>
          <a:ext cx="5919839" cy="4289439"/>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4028726" y="4381014"/>
            <a:ext cx="657197"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57%</a:t>
            </a:r>
          </a:p>
        </p:txBody>
      </p:sp>
      <p:sp>
        <p:nvSpPr>
          <p:cNvPr id="11" name="TextBox 10"/>
          <p:cNvSpPr txBox="1"/>
          <p:nvPr/>
        </p:nvSpPr>
        <p:spPr>
          <a:xfrm>
            <a:off x="2503746" y="4674199"/>
            <a:ext cx="657197"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24%</a:t>
            </a:r>
          </a:p>
        </p:txBody>
      </p:sp>
      <p:sp>
        <p:nvSpPr>
          <p:cNvPr id="13" name="TextBox 12"/>
          <p:cNvSpPr txBox="1"/>
          <p:nvPr/>
        </p:nvSpPr>
        <p:spPr>
          <a:xfrm>
            <a:off x="2832344" y="3548954"/>
            <a:ext cx="657197"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19%</a:t>
            </a:r>
          </a:p>
        </p:txBody>
      </p:sp>
    </p:spTree>
    <p:extLst>
      <p:ext uri="{BB962C8B-B14F-4D97-AF65-F5344CB8AC3E}">
        <p14:creationId xmlns:p14="http://schemas.microsoft.com/office/powerpoint/2010/main" val="166875339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p:bldGraphic spid="7" grpId="0">
        <p:bldAsOne/>
      </p:bldGraphic>
      <p:bldP spid="8" grpId="0"/>
      <p:bldP spid="11"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370324"/>
            <a:ext cx="10131833" cy="1478570"/>
          </a:xfrm>
        </p:spPr>
        <p:txBody>
          <a:bodyPr>
            <a:normAutofit/>
          </a:bodyPr>
          <a:lstStyle/>
          <a:p>
            <a:r>
              <a:rPr lang="en-US" b="1" dirty="0">
                <a:latin typeface="Arial" panose="020B0604020202020204" pitchFamily="34" charset="0"/>
                <a:cs typeface="Arial" panose="020B0604020202020204" pitchFamily="34" charset="0"/>
              </a:rPr>
              <a:t>ideal teaching model for the future</a:t>
            </a:r>
          </a:p>
        </p:txBody>
      </p:sp>
      <p:sp>
        <p:nvSpPr>
          <p:cNvPr id="12" name="Content Placeholder 2"/>
          <p:cNvSpPr txBox="1">
            <a:spLocks/>
          </p:cNvSpPr>
          <p:nvPr/>
        </p:nvSpPr>
        <p:spPr>
          <a:xfrm>
            <a:off x="6879533" y="1848894"/>
            <a:ext cx="4393712" cy="3187337"/>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nSpc>
                <a:spcPct val="100000"/>
              </a:lnSpc>
            </a:pPr>
            <a:r>
              <a:rPr lang="en-US" sz="2000" dirty="0">
                <a:latin typeface="Arial" panose="020B0604020202020204" pitchFamily="34" charset="0"/>
                <a:cs typeface="Arial" panose="020B0604020202020204" pitchFamily="34" charset="0"/>
              </a:rPr>
              <a:t>Most students prefer human based teaching or human-AI combination.</a:t>
            </a:r>
          </a:p>
          <a:p>
            <a:pPr>
              <a:lnSpc>
                <a:spcPct val="100000"/>
              </a:lnSpc>
            </a:pPr>
            <a:r>
              <a:rPr lang="en-US" sz="2000" dirty="0">
                <a:latin typeface="Arial" panose="020B0604020202020204" pitchFamily="34" charset="0"/>
                <a:cs typeface="Arial" panose="020B0604020202020204" pitchFamily="34" charset="0"/>
              </a:rPr>
              <a:t>This shows students prefer hybrid education over pure AI, indicating human essentiality in education.</a:t>
            </a:r>
          </a:p>
        </p:txBody>
      </p:sp>
      <p:graphicFrame>
        <p:nvGraphicFramePr>
          <p:cNvPr id="7" name="Chart 6"/>
          <p:cNvGraphicFramePr/>
          <p:nvPr>
            <p:extLst>
              <p:ext uri="{D42A27DB-BD31-4B8C-83A1-F6EECF244321}">
                <p14:modId xmlns:p14="http://schemas.microsoft.com/office/powerpoint/2010/main" val="2436093761"/>
              </p:ext>
            </p:extLst>
          </p:nvPr>
        </p:nvGraphicFramePr>
        <p:xfrm>
          <a:off x="-408271" y="1773565"/>
          <a:ext cx="7287804" cy="4289439"/>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3694809" y="3733618"/>
            <a:ext cx="657197"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40%</a:t>
            </a:r>
          </a:p>
        </p:txBody>
      </p:sp>
      <p:sp>
        <p:nvSpPr>
          <p:cNvPr id="11" name="TextBox 10"/>
          <p:cNvSpPr txBox="1"/>
          <p:nvPr/>
        </p:nvSpPr>
        <p:spPr>
          <a:xfrm>
            <a:off x="2578434" y="4661138"/>
            <a:ext cx="657197"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36%</a:t>
            </a:r>
          </a:p>
        </p:txBody>
      </p:sp>
      <p:sp>
        <p:nvSpPr>
          <p:cNvPr id="13" name="TextBox 12"/>
          <p:cNvSpPr txBox="1"/>
          <p:nvPr/>
        </p:nvSpPr>
        <p:spPr>
          <a:xfrm>
            <a:off x="2338432" y="3251619"/>
            <a:ext cx="657197"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24%</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8251" y="4102950"/>
            <a:ext cx="3716275" cy="2081114"/>
          </a:xfrm>
          <a:prstGeom prst="rect">
            <a:avLst/>
          </a:prstGeom>
        </p:spPr>
      </p:pic>
    </p:spTree>
    <p:extLst>
      <p:ext uri="{BB962C8B-B14F-4D97-AF65-F5344CB8AC3E}">
        <p14:creationId xmlns:p14="http://schemas.microsoft.com/office/powerpoint/2010/main" val="211595582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fade">
                                      <p:cBhvr>
                                        <p:cTn id="41" dur="1000"/>
                                        <p:tgtEl>
                                          <p:spTgt spid="3"/>
                                        </p:tgtEl>
                                      </p:cBhvr>
                                    </p:animEffect>
                                    <p:anim calcmode="lin" valueType="num">
                                      <p:cBhvr>
                                        <p:cTn id="42" dur="1000" fill="hold"/>
                                        <p:tgtEl>
                                          <p:spTgt spid="3"/>
                                        </p:tgtEl>
                                        <p:attrNameLst>
                                          <p:attrName>ppt_x</p:attrName>
                                        </p:attrNameLst>
                                      </p:cBhvr>
                                      <p:tavLst>
                                        <p:tav tm="0">
                                          <p:val>
                                            <p:strVal val="#ppt_x"/>
                                          </p:val>
                                        </p:tav>
                                        <p:tav tm="100000">
                                          <p:val>
                                            <p:strVal val="#ppt_x"/>
                                          </p:val>
                                        </p:tav>
                                      </p:tavLst>
                                    </p:anim>
                                    <p:anim calcmode="lin" valueType="num">
                                      <p:cBhvr>
                                        <p:cTn id="4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p:bldGraphic spid="7" grpId="0">
        <p:bldAsOne/>
      </p:bldGraphic>
      <p:bldP spid="8" grpId="0"/>
      <p:bldP spid="11"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592392"/>
            <a:ext cx="10105707" cy="1144968"/>
          </a:xfrm>
        </p:spPr>
        <p:txBody>
          <a:bodyPr>
            <a:normAutofit/>
          </a:bodyPr>
          <a:lstStyle/>
          <a:p>
            <a:r>
              <a:rPr lang="en-US" b="1" dirty="0">
                <a:latin typeface="Arial" panose="020B0604020202020204" pitchFamily="34" charset="0"/>
                <a:cs typeface="Arial" panose="020B0604020202020204" pitchFamily="34" charset="0"/>
              </a:rPr>
              <a:t>What Makes Human Teachers Irreplaceable?</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sz="half" idx="1"/>
          </p:nvPr>
        </p:nvSpPr>
        <p:spPr>
          <a:xfrm>
            <a:off x="1293222" y="2766175"/>
            <a:ext cx="4726579" cy="2542804"/>
          </a:xfrm>
        </p:spPr>
        <p:txBody>
          <a:bodyPr/>
          <a:lstStyle/>
          <a:p>
            <a:r>
              <a:rPr lang="en-US" dirty="0"/>
              <a:t>Personal connection and empathy</a:t>
            </a:r>
          </a:p>
          <a:p>
            <a:r>
              <a:rPr lang="en-US" dirty="0"/>
              <a:t>Provides motivation and encouragement</a:t>
            </a:r>
          </a:p>
          <a:p>
            <a:r>
              <a:rPr lang="en-US" dirty="0"/>
              <a:t>Adapts teaching style to student needs</a:t>
            </a:r>
          </a:p>
        </p:txBody>
      </p:sp>
      <p:sp>
        <p:nvSpPr>
          <p:cNvPr id="4" name="Content Placeholder 3"/>
          <p:cNvSpPr>
            <a:spLocks noGrp="1"/>
          </p:cNvSpPr>
          <p:nvPr>
            <p:ph sz="half" idx="2"/>
          </p:nvPr>
        </p:nvSpPr>
        <p:spPr>
          <a:xfrm>
            <a:off x="6194266" y="2766175"/>
            <a:ext cx="4282145" cy="3403847"/>
          </a:xfrm>
        </p:spPr>
        <p:txBody>
          <a:bodyPr/>
          <a:lstStyle/>
          <a:p>
            <a:r>
              <a:rPr lang="en-US" dirty="0"/>
              <a:t>Better at explaining complex concepts</a:t>
            </a:r>
          </a:p>
          <a:p>
            <a:r>
              <a:rPr lang="en-US" dirty="0"/>
              <a:t>Classroom interaction and discussions</a:t>
            </a:r>
          </a:p>
          <a:p>
            <a:endParaRPr lang="en-US" dirty="0"/>
          </a:p>
        </p:txBody>
      </p:sp>
      <p:sp>
        <p:nvSpPr>
          <p:cNvPr id="5" name="Title 1"/>
          <p:cNvSpPr txBox="1">
            <a:spLocks/>
          </p:cNvSpPr>
          <p:nvPr/>
        </p:nvSpPr>
        <p:spPr>
          <a:xfrm>
            <a:off x="4220687" y="1875227"/>
            <a:ext cx="4958724" cy="7530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400" b="1" dirty="0">
                <a:latin typeface="Arial" panose="020B0604020202020204" pitchFamily="34" charset="0"/>
                <a:cs typeface="Arial" panose="020B0604020202020204" pitchFamily="34" charset="0"/>
              </a:rPr>
              <a:t>Top Valued Qualities</a:t>
            </a:r>
          </a:p>
        </p:txBody>
      </p:sp>
      <p:sp>
        <p:nvSpPr>
          <p:cNvPr id="6" name="Content Placeholder 2"/>
          <p:cNvSpPr txBox="1">
            <a:spLocks/>
          </p:cNvSpPr>
          <p:nvPr/>
        </p:nvSpPr>
        <p:spPr>
          <a:xfrm>
            <a:off x="3015344" y="5623640"/>
            <a:ext cx="6008913" cy="450589"/>
          </a:xfrm>
          <a:prstGeom prst="rect">
            <a:avLst/>
          </a:prstGeom>
          <a:solidFill>
            <a:schemeClr val="bg1">
              <a:lumMod val="95000"/>
              <a:lumOff val="5000"/>
              <a:alpha val="70000"/>
            </a:schemeClr>
          </a:solidFill>
          <a:ln cap="flat">
            <a:solidFill>
              <a:schemeClr val="accent1"/>
            </a:solidFill>
          </a:ln>
          <a:effectLst>
            <a:glow rad="63500">
              <a:schemeClr val="accent5">
                <a:satMod val="175000"/>
                <a:alpha val="40000"/>
              </a:schemeClr>
            </a:glow>
          </a:effectLst>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100000"/>
              </a:lnSpc>
              <a:buNone/>
            </a:pPr>
            <a:r>
              <a:rPr lang="en-US" sz="2000" b="1" dirty="0">
                <a:latin typeface="Arial" panose="020B0604020202020204" pitchFamily="34" charset="0"/>
                <a:cs typeface="Arial" panose="020B0604020202020204" pitchFamily="34" charset="0"/>
              </a:rPr>
              <a:t>Such human elements cannot be replaced by AI</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07649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500"/>
                                        <p:tgtEl>
                                          <p:spTgt spid="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fade">
                                      <p:cBhvr>
                                        <p:cTn id="26" dur="500"/>
                                        <p:tgtEl>
                                          <p:spTgt spid="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fade">
                                      <p:cBhvr>
                                        <p:cTn id="31" dur="500"/>
                                        <p:tgtEl>
                                          <p:spTgt spid="3">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
                                            <p:txEl>
                                              <p:pRg st="0" end="0"/>
                                            </p:txEl>
                                          </p:spTgt>
                                        </p:tgtEl>
                                        <p:attrNameLst>
                                          <p:attrName>style.visibility</p:attrName>
                                        </p:attrNameLst>
                                      </p:cBhvr>
                                      <p:to>
                                        <p:strVal val="visible"/>
                                      </p:to>
                                    </p:set>
                                    <p:animEffect transition="in" filter="fade">
                                      <p:cBhvr>
                                        <p:cTn id="36" dur="500"/>
                                        <p:tgtEl>
                                          <p:spTgt spid="4">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
                                            <p:txEl>
                                              <p:pRg st="1" end="1"/>
                                            </p:txEl>
                                          </p:spTgt>
                                        </p:tgtEl>
                                        <p:attrNameLst>
                                          <p:attrName>style.visibility</p:attrName>
                                        </p:attrNameLst>
                                      </p:cBhvr>
                                      <p:to>
                                        <p:strVal val="visible"/>
                                      </p:to>
                                    </p:set>
                                    <p:animEffect transition="in" filter="fade">
                                      <p:cBhvr>
                                        <p:cTn id="41" dur="500"/>
                                        <p:tgtEl>
                                          <p:spTgt spid="4">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1000"/>
                                        <p:tgtEl>
                                          <p:spTgt spid="6"/>
                                        </p:tgtEl>
                                      </p:cBhvr>
                                    </p:animEffect>
                                    <p:anim calcmode="lin" valueType="num">
                                      <p:cBhvr>
                                        <p:cTn id="47" dur="1000" fill="hold"/>
                                        <p:tgtEl>
                                          <p:spTgt spid="6"/>
                                        </p:tgtEl>
                                        <p:attrNameLst>
                                          <p:attrName>ppt_x</p:attrName>
                                        </p:attrNameLst>
                                      </p:cBhvr>
                                      <p:tavLst>
                                        <p:tav tm="0">
                                          <p:val>
                                            <p:strVal val="#ppt_x"/>
                                          </p:val>
                                        </p:tav>
                                        <p:tav tm="100000">
                                          <p:val>
                                            <p:strVal val="#ppt_x"/>
                                          </p:val>
                                        </p:tav>
                                      </p:tavLst>
                                    </p:anim>
                                    <p:anim calcmode="lin" valueType="num">
                                      <p:cBhvr>
                                        <p:cTn id="4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P spid="5" grpId="0"/>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592392"/>
            <a:ext cx="10105707" cy="1144968"/>
          </a:xfrm>
        </p:spPr>
        <p:txBody>
          <a:bodyPr>
            <a:normAutofit/>
          </a:bodyPr>
          <a:lstStyle/>
          <a:p>
            <a:r>
              <a:rPr lang="en-US" b="1" dirty="0">
                <a:latin typeface="Arial" panose="020B0604020202020204" pitchFamily="34" charset="0"/>
                <a:cs typeface="Arial" panose="020B0604020202020204" pitchFamily="34" charset="0"/>
              </a:rPr>
              <a:t>Summary of Findings</a:t>
            </a:r>
          </a:p>
        </p:txBody>
      </p:sp>
      <p:sp>
        <p:nvSpPr>
          <p:cNvPr id="3" name="Content Placeholder 2"/>
          <p:cNvSpPr>
            <a:spLocks noGrp="1"/>
          </p:cNvSpPr>
          <p:nvPr>
            <p:ph sz="half" idx="1"/>
          </p:nvPr>
        </p:nvSpPr>
        <p:spPr>
          <a:xfrm>
            <a:off x="1606731" y="2200639"/>
            <a:ext cx="5778725" cy="581345"/>
          </a:xfrm>
        </p:spPr>
        <p:txBody>
          <a:bodyPr>
            <a:normAutofit/>
          </a:bodyPr>
          <a:lstStyle/>
          <a:p>
            <a:pPr marL="0" indent="0">
              <a:buNone/>
            </a:pPr>
            <a:r>
              <a:rPr lang="en-US" sz="1800" dirty="0">
                <a:latin typeface="Arial" panose="020B0604020202020204" pitchFamily="34" charset="0"/>
                <a:cs typeface="Arial" panose="020B0604020202020204" pitchFamily="34" charset="0"/>
              </a:rPr>
              <a:t>81% of students actively use AI tools for learning</a:t>
            </a:r>
          </a:p>
        </p:txBody>
      </p:sp>
      <p:sp>
        <p:nvSpPr>
          <p:cNvPr id="5" name="Title 1"/>
          <p:cNvSpPr txBox="1">
            <a:spLocks/>
          </p:cNvSpPr>
          <p:nvPr/>
        </p:nvSpPr>
        <p:spPr>
          <a:xfrm>
            <a:off x="1141413" y="1661079"/>
            <a:ext cx="4958724" cy="7530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High AI Adoption</a:t>
            </a:r>
          </a:p>
        </p:txBody>
      </p:sp>
      <p:sp>
        <p:nvSpPr>
          <p:cNvPr id="11" name="Title 1"/>
          <p:cNvSpPr txBox="1">
            <a:spLocks/>
          </p:cNvSpPr>
          <p:nvPr/>
        </p:nvSpPr>
        <p:spPr>
          <a:xfrm>
            <a:off x="1141413" y="2654423"/>
            <a:ext cx="7315201" cy="7530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Nearly Equal Effectiveness</a:t>
            </a:r>
          </a:p>
        </p:txBody>
      </p:sp>
      <p:sp>
        <p:nvSpPr>
          <p:cNvPr id="12" name="Content Placeholder 2"/>
          <p:cNvSpPr>
            <a:spLocks noGrp="1"/>
          </p:cNvSpPr>
          <p:nvPr>
            <p:ph sz="half" idx="1"/>
          </p:nvPr>
        </p:nvSpPr>
        <p:spPr>
          <a:xfrm>
            <a:off x="1606731" y="3176371"/>
            <a:ext cx="5778725" cy="581345"/>
          </a:xfrm>
        </p:spPr>
        <p:txBody>
          <a:bodyPr>
            <a:normAutofit/>
          </a:bodyPr>
          <a:lstStyle/>
          <a:p>
            <a:pPr marL="0" indent="0">
              <a:buNone/>
            </a:pPr>
            <a:r>
              <a:rPr lang="en-US" sz="1800" dirty="0">
                <a:latin typeface="Arial" panose="020B0604020202020204" pitchFamily="34" charset="0"/>
                <a:cs typeface="Arial" panose="020B0604020202020204" pitchFamily="34" charset="0"/>
              </a:rPr>
              <a:t>AI (3.81) vs Human (3.76) - minimum difference</a:t>
            </a:r>
          </a:p>
        </p:txBody>
      </p:sp>
      <p:sp>
        <p:nvSpPr>
          <p:cNvPr id="13" name="Title 1"/>
          <p:cNvSpPr txBox="1">
            <a:spLocks/>
          </p:cNvSpPr>
          <p:nvPr/>
        </p:nvSpPr>
        <p:spPr>
          <a:xfrm>
            <a:off x="1141413" y="3662453"/>
            <a:ext cx="7315201" cy="7530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Trust in Human Teachers</a:t>
            </a:r>
          </a:p>
        </p:txBody>
      </p:sp>
      <p:sp>
        <p:nvSpPr>
          <p:cNvPr id="14" name="Content Placeholder 2"/>
          <p:cNvSpPr>
            <a:spLocks noGrp="1"/>
          </p:cNvSpPr>
          <p:nvPr>
            <p:ph sz="half" idx="1"/>
          </p:nvPr>
        </p:nvSpPr>
        <p:spPr>
          <a:xfrm>
            <a:off x="1606731" y="4196464"/>
            <a:ext cx="8861561" cy="581345"/>
          </a:xfrm>
        </p:spPr>
        <p:txBody>
          <a:bodyPr>
            <a:normAutofit/>
          </a:bodyPr>
          <a:lstStyle/>
          <a:p>
            <a:pPr marL="0" indent="0">
              <a:buNone/>
            </a:pPr>
            <a:r>
              <a:rPr lang="en-US" sz="1800" dirty="0">
                <a:latin typeface="Arial" panose="020B0604020202020204" pitchFamily="34" charset="0"/>
                <a:cs typeface="Arial" panose="020B0604020202020204" pitchFamily="34" charset="0"/>
              </a:rPr>
              <a:t>57% prefer humans for complex concept understanding</a:t>
            </a:r>
          </a:p>
        </p:txBody>
      </p:sp>
      <p:sp>
        <p:nvSpPr>
          <p:cNvPr id="15" name="Title 1"/>
          <p:cNvSpPr txBox="1">
            <a:spLocks/>
          </p:cNvSpPr>
          <p:nvPr/>
        </p:nvSpPr>
        <p:spPr>
          <a:xfrm>
            <a:off x="1164822" y="4715608"/>
            <a:ext cx="4958724" cy="7530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Hybrid Future Preferred</a:t>
            </a:r>
          </a:p>
        </p:txBody>
      </p:sp>
      <p:sp>
        <p:nvSpPr>
          <p:cNvPr id="16" name="Content Placeholder 2"/>
          <p:cNvSpPr>
            <a:spLocks noGrp="1"/>
          </p:cNvSpPr>
          <p:nvPr>
            <p:ph sz="half" idx="1"/>
          </p:nvPr>
        </p:nvSpPr>
        <p:spPr>
          <a:xfrm>
            <a:off x="1606731" y="5231593"/>
            <a:ext cx="8861561" cy="581345"/>
          </a:xfrm>
        </p:spPr>
        <p:txBody>
          <a:bodyPr>
            <a:normAutofit/>
          </a:bodyPr>
          <a:lstStyle/>
          <a:p>
            <a:pPr marL="0" indent="0">
              <a:buNone/>
            </a:pPr>
            <a:r>
              <a:rPr lang="en-US" sz="1800" dirty="0">
                <a:latin typeface="Arial" panose="020B0604020202020204" pitchFamily="34" charset="0"/>
                <a:cs typeface="Arial" panose="020B0604020202020204" pitchFamily="34" charset="0"/>
              </a:rPr>
              <a:t>40% want balanced AI-Human teaching model</a:t>
            </a:r>
          </a:p>
        </p:txBody>
      </p:sp>
      <p:sp>
        <p:nvSpPr>
          <p:cNvPr id="17" name="Content Placeholder 2"/>
          <p:cNvSpPr txBox="1">
            <a:spLocks/>
          </p:cNvSpPr>
          <p:nvPr/>
        </p:nvSpPr>
        <p:spPr>
          <a:xfrm>
            <a:off x="7563392" y="2238006"/>
            <a:ext cx="4023363" cy="2062732"/>
          </a:xfrm>
          <a:prstGeom prst="rect">
            <a:avLst/>
          </a:prstGeom>
          <a:solidFill>
            <a:schemeClr val="bg1">
              <a:lumMod val="95000"/>
              <a:lumOff val="5000"/>
              <a:alpha val="70000"/>
            </a:schemeClr>
          </a:solidFill>
          <a:ln cap="flat">
            <a:solidFill>
              <a:schemeClr val="accent1"/>
            </a:solidFill>
          </a:ln>
          <a:effectLst>
            <a:glow rad="63500">
              <a:schemeClr val="accent5">
                <a:satMod val="175000"/>
                <a:alpha val="40000"/>
              </a:schemeClr>
            </a:glow>
            <a:softEdge rad="31750"/>
          </a:effectLst>
        </p:spPr>
        <p:txBody>
          <a:bodyPr vert="horz" lIns="91440" tIns="45720" rIns="91440" bIns="45720" rtlCol="0" anchor="t">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lnSpc>
                <a:spcPct val="100000"/>
              </a:lnSpc>
              <a:buNone/>
            </a:pPr>
            <a:r>
              <a:rPr lang="en-US" sz="1800" dirty="0">
                <a:latin typeface="Arial" panose="020B0604020202020204" pitchFamily="34" charset="0"/>
                <a:cs typeface="Arial" panose="020B0604020202020204" pitchFamily="34" charset="0"/>
              </a:rPr>
              <a:t>Both AI and human teaching methods have their own importance. AI can provide instant information and personalized learning experiences, but it lacks values for empathy and adaptability, values which human teachers can provide</a:t>
            </a:r>
          </a:p>
        </p:txBody>
      </p:sp>
    </p:spTree>
    <p:extLst>
      <p:ext uri="{BB962C8B-B14F-4D97-AF65-F5344CB8AC3E}">
        <p14:creationId xmlns:p14="http://schemas.microsoft.com/office/powerpoint/2010/main" val="292553266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500"/>
                                        <p:tgtEl>
                                          <p:spTgt spid="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anim calcmode="lin" valueType="num">
                                      <p:cBhvr>
                                        <p:cTn id="27" dur="1000" fill="hold"/>
                                        <p:tgtEl>
                                          <p:spTgt spid="11"/>
                                        </p:tgtEl>
                                        <p:attrNameLst>
                                          <p:attrName>ppt_x</p:attrName>
                                        </p:attrNameLst>
                                      </p:cBhvr>
                                      <p:tavLst>
                                        <p:tav tm="0">
                                          <p:val>
                                            <p:strVal val="#ppt_x"/>
                                          </p:val>
                                        </p:tav>
                                        <p:tav tm="100000">
                                          <p:val>
                                            <p:strVal val="#ppt_x"/>
                                          </p:val>
                                        </p:tav>
                                      </p:tavLst>
                                    </p:anim>
                                    <p:anim calcmode="lin" valueType="num">
                                      <p:cBhvr>
                                        <p:cTn id="2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2">
                                            <p:txEl>
                                              <p:pRg st="0" end="0"/>
                                            </p:txEl>
                                          </p:spTgt>
                                        </p:tgtEl>
                                        <p:attrNameLst>
                                          <p:attrName>style.visibility</p:attrName>
                                        </p:attrNameLst>
                                      </p:cBhvr>
                                      <p:to>
                                        <p:strVal val="visible"/>
                                      </p:to>
                                    </p:set>
                                    <p:animEffect transition="in" filter="fade">
                                      <p:cBhvr>
                                        <p:cTn id="33" dur="500"/>
                                        <p:tgtEl>
                                          <p:spTgt spid="12">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1000"/>
                                        <p:tgtEl>
                                          <p:spTgt spid="13"/>
                                        </p:tgtEl>
                                      </p:cBhvr>
                                    </p:animEffect>
                                    <p:anim calcmode="lin" valueType="num">
                                      <p:cBhvr>
                                        <p:cTn id="39" dur="1000" fill="hold"/>
                                        <p:tgtEl>
                                          <p:spTgt spid="13"/>
                                        </p:tgtEl>
                                        <p:attrNameLst>
                                          <p:attrName>ppt_x</p:attrName>
                                        </p:attrNameLst>
                                      </p:cBhvr>
                                      <p:tavLst>
                                        <p:tav tm="0">
                                          <p:val>
                                            <p:strVal val="#ppt_x"/>
                                          </p:val>
                                        </p:tav>
                                        <p:tav tm="100000">
                                          <p:val>
                                            <p:strVal val="#ppt_x"/>
                                          </p:val>
                                        </p:tav>
                                      </p:tavLst>
                                    </p:anim>
                                    <p:anim calcmode="lin" valueType="num">
                                      <p:cBhvr>
                                        <p:cTn id="4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4">
                                            <p:txEl>
                                              <p:pRg st="0" end="0"/>
                                            </p:txEl>
                                          </p:spTgt>
                                        </p:tgtEl>
                                        <p:attrNameLst>
                                          <p:attrName>style.visibility</p:attrName>
                                        </p:attrNameLst>
                                      </p:cBhvr>
                                      <p:to>
                                        <p:strVal val="visible"/>
                                      </p:to>
                                    </p:set>
                                    <p:animEffect transition="in" filter="fade">
                                      <p:cBhvr>
                                        <p:cTn id="45" dur="500"/>
                                        <p:tgtEl>
                                          <p:spTgt spid="14">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1000"/>
                                        <p:tgtEl>
                                          <p:spTgt spid="15"/>
                                        </p:tgtEl>
                                      </p:cBhvr>
                                    </p:animEffect>
                                    <p:anim calcmode="lin" valueType="num">
                                      <p:cBhvr>
                                        <p:cTn id="51" dur="1000" fill="hold"/>
                                        <p:tgtEl>
                                          <p:spTgt spid="15"/>
                                        </p:tgtEl>
                                        <p:attrNameLst>
                                          <p:attrName>ppt_x</p:attrName>
                                        </p:attrNameLst>
                                      </p:cBhvr>
                                      <p:tavLst>
                                        <p:tav tm="0">
                                          <p:val>
                                            <p:strVal val="#ppt_x"/>
                                          </p:val>
                                        </p:tav>
                                        <p:tav tm="100000">
                                          <p:val>
                                            <p:strVal val="#ppt_x"/>
                                          </p:val>
                                        </p:tav>
                                      </p:tavLst>
                                    </p:anim>
                                    <p:anim calcmode="lin" valueType="num">
                                      <p:cBhvr>
                                        <p:cTn id="5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6">
                                            <p:txEl>
                                              <p:pRg st="0" end="0"/>
                                            </p:txEl>
                                          </p:spTgt>
                                        </p:tgtEl>
                                        <p:attrNameLst>
                                          <p:attrName>style.visibility</p:attrName>
                                        </p:attrNameLst>
                                      </p:cBhvr>
                                      <p:to>
                                        <p:strVal val="visible"/>
                                      </p:to>
                                    </p:set>
                                    <p:animEffect transition="in" filter="fade">
                                      <p:cBhvr>
                                        <p:cTn id="57" dur="500"/>
                                        <p:tgtEl>
                                          <p:spTgt spid="16">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1000"/>
                                        <p:tgtEl>
                                          <p:spTgt spid="17"/>
                                        </p:tgtEl>
                                      </p:cBhvr>
                                    </p:animEffect>
                                    <p:anim calcmode="lin" valueType="num">
                                      <p:cBhvr>
                                        <p:cTn id="63" dur="1000" fill="hold"/>
                                        <p:tgtEl>
                                          <p:spTgt spid="17"/>
                                        </p:tgtEl>
                                        <p:attrNameLst>
                                          <p:attrName>ppt_x</p:attrName>
                                        </p:attrNameLst>
                                      </p:cBhvr>
                                      <p:tavLst>
                                        <p:tav tm="0">
                                          <p:val>
                                            <p:strVal val="#ppt_x"/>
                                          </p:val>
                                        </p:tav>
                                        <p:tav tm="100000">
                                          <p:val>
                                            <p:strVal val="#ppt_x"/>
                                          </p:val>
                                        </p:tav>
                                      </p:tavLst>
                                    </p:anim>
                                    <p:anim calcmode="lin" valueType="num">
                                      <p:cBhvr>
                                        <p:cTn id="6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P spid="11" grpId="0"/>
      <p:bldP spid="12" grpId="0" build="p"/>
      <p:bldP spid="13" grpId="0"/>
      <p:bldP spid="14" grpId="0" build="p"/>
      <p:bldP spid="15" grpId="0"/>
      <p:bldP spid="16" grpId="0" build="p"/>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592392"/>
            <a:ext cx="10105707" cy="1144968"/>
          </a:xfrm>
        </p:spPr>
        <p:txBody>
          <a:bodyPr>
            <a:normAutofit/>
          </a:bodyPr>
          <a:lstStyle/>
          <a:p>
            <a:r>
              <a:rPr lang="en-US" b="1" dirty="0">
                <a:latin typeface="Arial" panose="020B0604020202020204" pitchFamily="34" charset="0"/>
                <a:cs typeface="Arial" panose="020B0604020202020204" pitchFamily="34" charset="0"/>
              </a:rPr>
              <a:t>Conclusion</a:t>
            </a:r>
          </a:p>
        </p:txBody>
      </p:sp>
      <p:sp>
        <p:nvSpPr>
          <p:cNvPr id="3" name="Content Placeholder 2"/>
          <p:cNvSpPr>
            <a:spLocks noGrp="1"/>
          </p:cNvSpPr>
          <p:nvPr>
            <p:ph sz="half" idx="1"/>
          </p:nvPr>
        </p:nvSpPr>
        <p:spPr>
          <a:xfrm>
            <a:off x="1397726" y="2195892"/>
            <a:ext cx="4450086" cy="1696839"/>
          </a:xfrm>
        </p:spPr>
        <p:txBody>
          <a:bodyPr>
            <a:normAutofit/>
          </a:bodyPr>
          <a:lstStyle/>
          <a:p>
            <a:pPr>
              <a:lnSpc>
                <a:spcPct val="100000"/>
              </a:lnSpc>
            </a:pPr>
            <a:r>
              <a:rPr lang="en-US" sz="1800" dirty="0">
                <a:latin typeface="Arial" panose="020B0604020202020204" pitchFamily="34" charset="0"/>
                <a:cs typeface="Arial" panose="020B0604020202020204" pitchFamily="34" charset="0"/>
              </a:rPr>
              <a:t>Instant access to information</a:t>
            </a:r>
          </a:p>
          <a:p>
            <a:pPr>
              <a:lnSpc>
                <a:spcPct val="100000"/>
              </a:lnSpc>
            </a:pPr>
            <a:r>
              <a:rPr lang="en-US" sz="1800" dirty="0">
                <a:latin typeface="Arial" panose="020B0604020202020204" pitchFamily="34" charset="0"/>
                <a:cs typeface="Arial" panose="020B0604020202020204" pitchFamily="34" charset="0"/>
              </a:rPr>
              <a:t>Personalized practice</a:t>
            </a:r>
          </a:p>
          <a:p>
            <a:pPr>
              <a:lnSpc>
                <a:spcPct val="100000"/>
              </a:lnSpc>
            </a:pPr>
            <a:r>
              <a:rPr lang="en-US" sz="1800" dirty="0">
                <a:latin typeface="Arial" panose="020B0604020202020204" pitchFamily="34" charset="0"/>
                <a:cs typeface="Arial" panose="020B0604020202020204" pitchFamily="34" charset="0"/>
              </a:rPr>
              <a:t>24/7 availability</a:t>
            </a:r>
          </a:p>
          <a:p>
            <a:pPr>
              <a:lnSpc>
                <a:spcPct val="100000"/>
              </a:lnSpc>
            </a:pPr>
            <a:r>
              <a:rPr lang="en-US" sz="1800" dirty="0">
                <a:latin typeface="Arial" panose="020B0604020202020204" pitchFamily="34" charset="0"/>
                <a:cs typeface="Arial" panose="020B0604020202020204" pitchFamily="34" charset="0"/>
              </a:rPr>
              <a:t>Self-paced learning</a:t>
            </a:r>
          </a:p>
        </p:txBody>
      </p:sp>
      <p:sp>
        <p:nvSpPr>
          <p:cNvPr id="5" name="Title 1"/>
          <p:cNvSpPr txBox="1">
            <a:spLocks/>
          </p:cNvSpPr>
          <p:nvPr/>
        </p:nvSpPr>
        <p:spPr>
          <a:xfrm>
            <a:off x="1397725" y="1661079"/>
            <a:ext cx="4702411" cy="7530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000" b="1" dirty="0">
                <a:latin typeface="Arial" panose="020B0604020202020204" pitchFamily="34" charset="0"/>
                <a:cs typeface="Arial" panose="020B0604020202020204" pitchFamily="34" charset="0"/>
              </a:rPr>
              <a:t>AI Excels At:</a:t>
            </a:r>
          </a:p>
        </p:txBody>
      </p:sp>
      <p:sp>
        <p:nvSpPr>
          <p:cNvPr id="11" name="Title 1"/>
          <p:cNvSpPr txBox="1">
            <a:spLocks/>
          </p:cNvSpPr>
          <p:nvPr/>
        </p:nvSpPr>
        <p:spPr>
          <a:xfrm>
            <a:off x="6344190" y="1661079"/>
            <a:ext cx="2740835" cy="7530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000" b="1" dirty="0">
                <a:latin typeface="Arial" panose="020B0604020202020204" pitchFamily="34" charset="0"/>
                <a:cs typeface="Arial" panose="020B0604020202020204" pitchFamily="34" charset="0"/>
              </a:rPr>
              <a:t>Humans Excel At:</a:t>
            </a:r>
          </a:p>
        </p:txBody>
      </p:sp>
      <p:sp>
        <p:nvSpPr>
          <p:cNvPr id="17" name="Content Placeholder 2"/>
          <p:cNvSpPr txBox="1">
            <a:spLocks/>
          </p:cNvSpPr>
          <p:nvPr/>
        </p:nvSpPr>
        <p:spPr>
          <a:xfrm>
            <a:off x="3452837" y="5373633"/>
            <a:ext cx="5782705" cy="700733"/>
          </a:xfrm>
          <a:prstGeom prst="rect">
            <a:avLst/>
          </a:prstGeom>
          <a:solidFill>
            <a:schemeClr val="bg1">
              <a:lumMod val="95000"/>
              <a:lumOff val="5000"/>
              <a:alpha val="70000"/>
            </a:schemeClr>
          </a:solidFill>
          <a:ln cap="flat">
            <a:solidFill>
              <a:schemeClr val="accent1"/>
            </a:solidFill>
          </a:ln>
          <a:effectLst>
            <a:glow rad="63500">
              <a:schemeClr val="accent5">
                <a:satMod val="175000"/>
                <a:alpha val="40000"/>
              </a:schemeClr>
            </a:glow>
            <a:softEdge rad="31750"/>
          </a:effectLst>
        </p:spPr>
        <p:txBody>
          <a:bodyPr vert="horz" lIns="91440" tIns="45720" rIns="91440" bIns="45720" rtlCol="0" anchor="t">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lnSpc>
                <a:spcPct val="100000"/>
              </a:lnSpc>
              <a:buNone/>
            </a:pPr>
            <a:r>
              <a:rPr lang="en-US" sz="1800" dirty="0">
                <a:latin typeface="Arial" panose="020B0604020202020204" pitchFamily="34" charset="0"/>
                <a:cs typeface="Arial" panose="020B0604020202020204" pitchFamily="34" charset="0"/>
              </a:rPr>
              <a:t>Students envision a hybrid future involving both human teaching and AI-based learning</a:t>
            </a:r>
          </a:p>
        </p:txBody>
      </p:sp>
      <p:sp>
        <p:nvSpPr>
          <p:cNvPr id="18" name="Content Placeholder 2"/>
          <p:cNvSpPr>
            <a:spLocks noGrp="1"/>
          </p:cNvSpPr>
          <p:nvPr>
            <p:ph sz="half" idx="1"/>
          </p:nvPr>
        </p:nvSpPr>
        <p:spPr>
          <a:xfrm>
            <a:off x="6413276" y="2195892"/>
            <a:ext cx="3945376" cy="1802010"/>
          </a:xfrm>
        </p:spPr>
        <p:txBody>
          <a:bodyPr>
            <a:normAutofit/>
          </a:bodyPr>
          <a:lstStyle/>
          <a:p>
            <a:r>
              <a:rPr lang="en-US" sz="1800" dirty="0">
                <a:latin typeface="Arial" panose="020B0604020202020204" pitchFamily="34" charset="0"/>
                <a:cs typeface="Arial" panose="020B0604020202020204" pitchFamily="34" charset="0"/>
              </a:rPr>
              <a:t>Empathy and connection</a:t>
            </a:r>
          </a:p>
          <a:p>
            <a:r>
              <a:rPr lang="en-US" sz="1800" dirty="0">
                <a:latin typeface="Arial" panose="020B0604020202020204" pitchFamily="34" charset="0"/>
                <a:cs typeface="Arial" panose="020B0604020202020204" pitchFamily="34" charset="0"/>
              </a:rPr>
              <a:t>Complex explanations</a:t>
            </a:r>
          </a:p>
          <a:p>
            <a:r>
              <a:rPr lang="en-US" sz="1800" dirty="0">
                <a:latin typeface="Arial" panose="020B0604020202020204" pitchFamily="34" charset="0"/>
                <a:cs typeface="Arial" panose="020B0604020202020204" pitchFamily="34" charset="0"/>
              </a:rPr>
              <a:t>Motivation and inspiration</a:t>
            </a:r>
          </a:p>
          <a:p>
            <a:r>
              <a:rPr lang="en-US" sz="1800" dirty="0">
                <a:latin typeface="Arial" panose="020B0604020202020204" pitchFamily="34" charset="0"/>
                <a:cs typeface="Arial" panose="020B0604020202020204" pitchFamily="34" charset="0"/>
              </a:rPr>
              <a:t>Dynamic interaction</a:t>
            </a:r>
          </a:p>
        </p:txBody>
      </p:sp>
      <p:sp>
        <p:nvSpPr>
          <p:cNvPr id="19" name="Content Placeholder 2"/>
          <p:cNvSpPr>
            <a:spLocks noGrp="1"/>
          </p:cNvSpPr>
          <p:nvPr>
            <p:ph sz="half" idx="1"/>
          </p:nvPr>
        </p:nvSpPr>
        <p:spPr>
          <a:xfrm>
            <a:off x="1397725" y="4193178"/>
            <a:ext cx="10019212" cy="927464"/>
          </a:xfrm>
        </p:spPr>
        <p:txBody>
          <a:bodyPr>
            <a:noAutofit/>
          </a:bodyPr>
          <a:lstStyle/>
          <a:p>
            <a:pPr marL="0" indent="0">
              <a:lnSpc>
                <a:spcPct val="100000"/>
              </a:lnSpc>
              <a:buNone/>
            </a:pPr>
            <a:r>
              <a:rPr lang="en-US" sz="1800" dirty="0">
                <a:latin typeface="Arial" panose="020B0604020202020204" pitchFamily="34" charset="0"/>
                <a:cs typeface="Arial" panose="020B0604020202020204" pitchFamily="34" charset="0"/>
              </a:rPr>
              <a:t>AI tools have achieved high acceptance among students. However, human teachers retain an important role in the learning process, especially for understanding complex problems, emotional support, and fostering interactive discussions. </a:t>
            </a:r>
          </a:p>
        </p:txBody>
      </p:sp>
    </p:spTree>
    <p:extLst>
      <p:ext uri="{BB962C8B-B14F-4D97-AF65-F5344CB8AC3E}">
        <p14:creationId xmlns:p14="http://schemas.microsoft.com/office/powerpoint/2010/main" val="258604787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500"/>
                                        <p:tgtEl>
                                          <p:spTgt spid="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fade">
                                      <p:cBhvr>
                                        <p:cTn id="26" dur="500"/>
                                        <p:tgtEl>
                                          <p:spTgt spid="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fade">
                                      <p:cBhvr>
                                        <p:cTn id="31" dur="500"/>
                                        <p:tgtEl>
                                          <p:spTgt spid="3">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fade">
                                      <p:cBhvr>
                                        <p:cTn id="36" dur="500"/>
                                        <p:tgtEl>
                                          <p:spTgt spid="3">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1000"/>
                                        <p:tgtEl>
                                          <p:spTgt spid="11"/>
                                        </p:tgtEl>
                                      </p:cBhvr>
                                    </p:animEffect>
                                    <p:anim calcmode="lin" valueType="num">
                                      <p:cBhvr>
                                        <p:cTn id="42" dur="1000" fill="hold"/>
                                        <p:tgtEl>
                                          <p:spTgt spid="11"/>
                                        </p:tgtEl>
                                        <p:attrNameLst>
                                          <p:attrName>ppt_x</p:attrName>
                                        </p:attrNameLst>
                                      </p:cBhvr>
                                      <p:tavLst>
                                        <p:tav tm="0">
                                          <p:val>
                                            <p:strVal val="#ppt_x"/>
                                          </p:val>
                                        </p:tav>
                                        <p:tav tm="100000">
                                          <p:val>
                                            <p:strVal val="#ppt_x"/>
                                          </p:val>
                                        </p:tav>
                                      </p:tavLst>
                                    </p:anim>
                                    <p:anim calcmode="lin" valueType="num">
                                      <p:cBhvr>
                                        <p:cTn id="4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8">
                                            <p:txEl>
                                              <p:pRg st="0" end="0"/>
                                            </p:txEl>
                                          </p:spTgt>
                                        </p:tgtEl>
                                        <p:attrNameLst>
                                          <p:attrName>style.visibility</p:attrName>
                                        </p:attrNameLst>
                                      </p:cBhvr>
                                      <p:to>
                                        <p:strVal val="visible"/>
                                      </p:to>
                                    </p:set>
                                    <p:animEffect transition="in" filter="fade">
                                      <p:cBhvr>
                                        <p:cTn id="48" dur="500"/>
                                        <p:tgtEl>
                                          <p:spTgt spid="18">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8">
                                            <p:txEl>
                                              <p:pRg st="1" end="1"/>
                                            </p:txEl>
                                          </p:spTgt>
                                        </p:tgtEl>
                                        <p:attrNameLst>
                                          <p:attrName>style.visibility</p:attrName>
                                        </p:attrNameLst>
                                      </p:cBhvr>
                                      <p:to>
                                        <p:strVal val="visible"/>
                                      </p:to>
                                    </p:set>
                                    <p:animEffect transition="in" filter="fade">
                                      <p:cBhvr>
                                        <p:cTn id="53" dur="500"/>
                                        <p:tgtEl>
                                          <p:spTgt spid="18">
                                            <p:txEl>
                                              <p:pRg st="1" end="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8">
                                            <p:txEl>
                                              <p:pRg st="2" end="2"/>
                                            </p:txEl>
                                          </p:spTgt>
                                        </p:tgtEl>
                                        <p:attrNameLst>
                                          <p:attrName>style.visibility</p:attrName>
                                        </p:attrNameLst>
                                      </p:cBhvr>
                                      <p:to>
                                        <p:strVal val="visible"/>
                                      </p:to>
                                    </p:set>
                                    <p:animEffect transition="in" filter="fade">
                                      <p:cBhvr>
                                        <p:cTn id="58" dur="500"/>
                                        <p:tgtEl>
                                          <p:spTgt spid="18">
                                            <p:txEl>
                                              <p:pRg st="2" end="2"/>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8">
                                            <p:txEl>
                                              <p:pRg st="3" end="3"/>
                                            </p:txEl>
                                          </p:spTgt>
                                        </p:tgtEl>
                                        <p:attrNameLst>
                                          <p:attrName>style.visibility</p:attrName>
                                        </p:attrNameLst>
                                      </p:cBhvr>
                                      <p:to>
                                        <p:strVal val="visible"/>
                                      </p:to>
                                    </p:set>
                                    <p:animEffect transition="in" filter="fade">
                                      <p:cBhvr>
                                        <p:cTn id="63" dur="500"/>
                                        <p:tgtEl>
                                          <p:spTgt spid="18">
                                            <p:txEl>
                                              <p:pRg st="3" end="3"/>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9">
                                            <p:txEl>
                                              <p:pRg st="0" end="0"/>
                                            </p:txEl>
                                          </p:spTgt>
                                        </p:tgtEl>
                                        <p:attrNameLst>
                                          <p:attrName>style.visibility</p:attrName>
                                        </p:attrNameLst>
                                      </p:cBhvr>
                                      <p:to>
                                        <p:strVal val="visible"/>
                                      </p:to>
                                    </p:set>
                                    <p:animEffect transition="in" filter="fade">
                                      <p:cBhvr>
                                        <p:cTn id="68" dur="500"/>
                                        <p:tgtEl>
                                          <p:spTgt spid="19">
                                            <p:txEl>
                                              <p:pRg st="0" end="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1000"/>
                                        <p:tgtEl>
                                          <p:spTgt spid="17"/>
                                        </p:tgtEl>
                                      </p:cBhvr>
                                    </p:animEffect>
                                    <p:anim calcmode="lin" valueType="num">
                                      <p:cBhvr>
                                        <p:cTn id="74" dur="1000" fill="hold"/>
                                        <p:tgtEl>
                                          <p:spTgt spid="17"/>
                                        </p:tgtEl>
                                        <p:attrNameLst>
                                          <p:attrName>ppt_x</p:attrName>
                                        </p:attrNameLst>
                                      </p:cBhvr>
                                      <p:tavLst>
                                        <p:tav tm="0">
                                          <p:val>
                                            <p:strVal val="#ppt_x"/>
                                          </p:val>
                                        </p:tav>
                                        <p:tav tm="100000">
                                          <p:val>
                                            <p:strVal val="#ppt_x"/>
                                          </p:val>
                                        </p:tav>
                                      </p:tavLst>
                                    </p:anim>
                                    <p:anim calcmode="lin" valueType="num">
                                      <p:cBhvr>
                                        <p:cTn id="7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P spid="11" grpId="0"/>
      <p:bldP spid="17" grpId="0" animBg="1"/>
      <p:bldP spid="18" grpId="0" build="p"/>
      <p:bldP spid="1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592392"/>
            <a:ext cx="10105707" cy="1144968"/>
          </a:xfrm>
        </p:spPr>
        <p:txBody>
          <a:bodyPr>
            <a:normAutofit/>
          </a:bodyPr>
          <a:lstStyle/>
          <a:p>
            <a:r>
              <a:rPr lang="en-US" b="1" dirty="0">
                <a:latin typeface="Arial" panose="020B0604020202020204" pitchFamily="34" charset="0"/>
                <a:cs typeface="Arial" panose="020B0604020202020204" pitchFamily="34" charset="0"/>
              </a:rPr>
              <a:t>Recommendations</a:t>
            </a:r>
          </a:p>
        </p:txBody>
      </p:sp>
      <p:sp>
        <p:nvSpPr>
          <p:cNvPr id="3" name="Content Placeholder 2"/>
          <p:cNvSpPr>
            <a:spLocks noGrp="1"/>
          </p:cNvSpPr>
          <p:nvPr>
            <p:ph sz="half" idx="1"/>
          </p:nvPr>
        </p:nvSpPr>
        <p:spPr>
          <a:xfrm>
            <a:off x="1141413" y="2011680"/>
            <a:ext cx="5329647" cy="2996429"/>
          </a:xfrm>
        </p:spPr>
        <p:txBody>
          <a:bodyPr>
            <a:normAutofit/>
          </a:bodyPr>
          <a:lstStyle/>
          <a:p>
            <a:r>
              <a:rPr lang="en-US" sz="2000" dirty="0">
                <a:latin typeface="Arial" panose="020B0604020202020204" pitchFamily="34" charset="0"/>
                <a:cs typeface="Arial" panose="020B0604020202020204" pitchFamily="34" charset="0"/>
              </a:rPr>
              <a:t>Integrate AI as supplementary tools, not replacements</a:t>
            </a:r>
          </a:p>
          <a:p>
            <a:r>
              <a:rPr lang="en-US" sz="2000" dirty="0">
                <a:latin typeface="Arial" panose="020B0604020202020204" pitchFamily="34" charset="0"/>
                <a:cs typeface="Arial" panose="020B0604020202020204" pitchFamily="34" charset="0"/>
              </a:rPr>
              <a:t>Train teachers to use AI effectively</a:t>
            </a:r>
          </a:p>
          <a:p>
            <a:r>
              <a:rPr lang="en-US" sz="2000" dirty="0">
                <a:latin typeface="Arial" panose="020B0604020202020204" pitchFamily="34" charset="0"/>
                <a:cs typeface="Arial" panose="020B0604020202020204" pitchFamily="34" charset="0"/>
              </a:rPr>
              <a:t>Develop hybrid curriculum models</a:t>
            </a:r>
          </a:p>
          <a:p>
            <a:r>
              <a:rPr lang="en-US" sz="2000" dirty="0">
                <a:latin typeface="Arial" panose="020B0604020202020204" pitchFamily="34" charset="0"/>
                <a:cs typeface="Arial" panose="020B0604020202020204" pitchFamily="34" charset="0"/>
              </a:rPr>
              <a:t>Preserve human mentorship while embracing technology</a:t>
            </a:r>
          </a:p>
        </p:txBody>
      </p:sp>
      <p:sp>
        <p:nvSpPr>
          <p:cNvPr id="17" name="Content Placeholder 2"/>
          <p:cNvSpPr txBox="1">
            <a:spLocks/>
          </p:cNvSpPr>
          <p:nvPr/>
        </p:nvSpPr>
        <p:spPr>
          <a:xfrm>
            <a:off x="1319349" y="5104584"/>
            <a:ext cx="5329647" cy="692331"/>
          </a:xfrm>
          <a:prstGeom prst="rect">
            <a:avLst/>
          </a:prstGeom>
          <a:solidFill>
            <a:schemeClr val="bg1">
              <a:lumMod val="95000"/>
              <a:lumOff val="5000"/>
              <a:alpha val="70000"/>
            </a:schemeClr>
          </a:solidFill>
          <a:ln cap="flat">
            <a:solidFill>
              <a:schemeClr val="accent1"/>
            </a:solidFill>
          </a:ln>
          <a:effectLst>
            <a:glow rad="63500">
              <a:schemeClr val="accent5">
                <a:satMod val="175000"/>
                <a:alpha val="40000"/>
              </a:schemeClr>
            </a:glow>
            <a:softEdge rad="31750"/>
          </a:effectLst>
        </p:spPr>
        <p:txBody>
          <a:bodyPr vert="horz" lIns="91440" tIns="45720" rIns="91440" bIns="45720" rtlCol="0" anchor="t">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lnSpc>
                <a:spcPct val="100000"/>
              </a:lnSpc>
              <a:buNone/>
            </a:pPr>
            <a:r>
              <a:rPr lang="en-US" sz="1800" b="1" i="1" dirty="0">
                <a:latin typeface="Arial" panose="020B0604020202020204" pitchFamily="34" charset="0"/>
                <a:cs typeface="Arial" panose="020B0604020202020204" pitchFamily="34" charset="0"/>
              </a:rPr>
              <a:t>The future of education shall be collaborative, not competitive</a:t>
            </a:r>
            <a:endParaRPr lang="en-US" sz="1800" dirty="0">
              <a:latin typeface="Arial" panose="020B0604020202020204" pitchFamily="34" charset="0"/>
              <a:cs typeface="Arial" panose="020B0604020202020204" pitchFamily="34" charset="0"/>
            </a:endParaRPr>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r="23057"/>
          <a:stretch/>
        </p:blipFill>
        <p:spPr>
          <a:xfrm>
            <a:off x="6996747" y="1944716"/>
            <a:ext cx="4367938" cy="3195042"/>
          </a:xfrm>
          <a:prstGeom prst="rect">
            <a:avLst/>
          </a:prstGeom>
        </p:spPr>
      </p:pic>
    </p:spTree>
    <p:extLst>
      <p:ext uri="{BB962C8B-B14F-4D97-AF65-F5344CB8AC3E}">
        <p14:creationId xmlns:p14="http://schemas.microsoft.com/office/powerpoint/2010/main" val="154060389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5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5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500"/>
                                        <p:tgtEl>
                                          <p:spTgt spid="3">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1000"/>
                                        <p:tgtEl>
                                          <p:spTgt spid="17"/>
                                        </p:tgtEl>
                                      </p:cBhvr>
                                    </p:animEffect>
                                    <p:anim calcmode="lin" valueType="num">
                                      <p:cBhvr>
                                        <p:cTn id="42" dur="1000" fill="hold"/>
                                        <p:tgtEl>
                                          <p:spTgt spid="17"/>
                                        </p:tgtEl>
                                        <p:attrNameLst>
                                          <p:attrName>ppt_x</p:attrName>
                                        </p:attrNameLst>
                                      </p:cBhvr>
                                      <p:tavLst>
                                        <p:tav tm="0">
                                          <p:val>
                                            <p:strVal val="#ppt_x"/>
                                          </p:val>
                                        </p:tav>
                                        <p:tav tm="100000">
                                          <p:val>
                                            <p:strVal val="#ppt_x"/>
                                          </p:val>
                                        </p:tav>
                                      </p:tavLst>
                                    </p:anim>
                                    <p:anim calcmode="lin" valueType="num">
                                      <p:cBhvr>
                                        <p:cTn id="4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0" y="620799"/>
            <a:ext cx="5525589" cy="1939520"/>
          </a:xfrm>
        </p:spPr>
        <p:txBody>
          <a:bodyPr>
            <a:normAutofit/>
          </a:bodyPr>
          <a:lstStyle/>
          <a:p>
            <a:r>
              <a:rPr lang="en-US" sz="6000" b="1" dirty="0">
                <a:latin typeface="Arial" panose="020B0604020202020204" pitchFamily="34" charset="0"/>
                <a:cs typeface="Arial" panose="020B0604020202020204" pitchFamily="34" charset="0"/>
              </a:rPr>
              <a:t>THANK YOU</a:t>
            </a:r>
            <a:endParaRPr lang="en-US" sz="6000" dirty="0">
              <a:latin typeface="Arial" panose="020B0604020202020204" pitchFamily="34" charset="0"/>
              <a:cs typeface="Arial" panose="020B0604020202020204" pitchFamily="34" charset="0"/>
            </a:endParaRPr>
          </a:p>
        </p:txBody>
      </p:sp>
      <p:sp>
        <p:nvSpPr>
          <p:cNvPr id="3" name="Content Placeholder 2"/>
          <p:cNvSpPr txBox="1">
            <a:spLocks/>
          </p:cNvSpPr>
          <p:nvPr/>
        </p:nvSpPr>
        <p:spPr>
          <a:xfrm>
            <a:off x="3072500" y="4297682"/>
            <a:ext cx="5525589" cy="1584958"/>
          </a:xfrm>
          <a:prstGeom prst="rect">
            <a:avLst/>
          </a:prstGeom>
        </p:spPr>
        <p:txBody>
          <a:bodyP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sz="2000" b="1" dirty="0">
                <a:latin typeface="Arial" panose="020B0604020202020204" pitchFamily="34" charset="0"/>
                <a:cs typeface="Arial" panose="020B0604020202020204" pitchFamily="34" charset="0"/>
              </a:rPr>
              <a:t>Special Thanks:</a:t>
            </a:r>
          </a:p>
          <a:p>
            <a:pPr marL="0" indent="0" algn="ctr">
              <a:lnSpc>
                <a:spcPct val="100000"/>
              </a:lnSpc>
              <a:buNone/>
            </a:pPr>
            <a:r>
              <a:rPr lang="en-US" sz="2000" dirty="0">
                <a:latin typeface="Arial" panose="020B0604020202020204" pitchFamily="34" charset="0"/>
                <a:cs typeface="Arial" panose="020B0604020202020204" pitchFamily="34" charset="0"/>
              </a:rPr>
              <a:t>Ms. </a:t>
            </a:r>
            <a:r>
              <a:rPr lang="en-US" sz="2000" dirty="0" err="1">
                <a:latin typeface="Arial" panose="020B0604020202020204" pitchFamily="34" charset="0"/>
                <a:cs typeface="Arial" panose="020B0604020202020204" pitchFamily="34" charset="0"/>
              </a:rPr>
              <a:t>Ramsha</a:t>
            </a:r>
            <a:r>
              <a:rPr lang="en-US" sz="2000" dirty="0">
                <a:latin typeface="Arial" panose="020B0604020202020204" pitchFamily="34" charset="0"/>
                <a:cs typeface="Arial" panose="020B0604020202020204" pitchFamily="34" charset="0"/>
              </a:rPr>
              <a:t> Khalid (Instructor)</a:t>
            </a:r>
          </a:p>
          <a:p>
            <a:pPr marL="0" indent="0" algn="ctr">
              <a:lnSpc>
                <a:spcPct val="100000"/>
              </a:lnSpc>
              <a:buNone/>
            </a:pPr>
            <a:r>
              <a:rPr lang="en-US" sz="2000" dirty="0">
                <a:latin typeface="Arial" panose="020B0604020202020204" pitchFamily="34" charset="0"/>
                <a:cs typeface="Arial" panose="020B0604020202020204" pitchFamily="34" charset="0"/>
              </a:rPr>
              <a:t>All Survey Participants</a:t>
            </a:r>
          </a:p>
        </p:txBody>
      </p:sp>
      <p:sp>
        <p:nvSpPr>
          <p:cNvPr id="4" name="Content Placeholder 2"/>
          <p:cNvSpPr txBox="1">
            <a:spLocks/>
          </p:cNvSpPr>
          <p:nvPr/>
        </p:nvSpPr>
        <p:spPr>
          <a:xfrm>
            <a:off x="4201884" y="2804163"/>
            <a:ext cx="3740332" cy="1044506"/>
          </a:xfrm>
          <a:prstGeom prst="rect">
            <a:avLst/>
          </a:prstGeom>
        </p:spPr>
        <p:txBody>
          <a:bodyP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sz="4800" dirty="0">
                <a:latin typeface="Arial" panose="020B0604020202020204" pitchFamily="34" charset="0"/>
                <a:cs typeface="Arial" panose="020B0604020202020204" pitchFamily="34" charset="0"/>
              </a:rPr>
              <a:t>Questions?</a:t>
            </a:r>
          </a:p>
        </p:txBody>
      </p:sp>
    </p:spTree>
    <p:extLst>
      <p:ext uri="{BB962C8B-B14F-4D97-AF65-F5344CB8AC3E}">
        <p14:creationId xmlns:p14="http://schemas.microsoft.com/office/powerpoint/2010/main" val="323912890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293</TotalTime>
  <Words>594</Words>
  <Application>Microsoft Office PowerPoint</Application>
  <PresentationFormat>Widescreen</PresentationFormat>
  <Paragraphs>106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Times New Roman</vt:lpstr>
      <vt:lpstr>Tw Cen MT</vt:lpstr>
      <vt:lpstr>Circuit</vt:lpstr>
      <vt:lpstr>AI vs HUMAN TEACHING</vt:lpstr>
      <vt:lpstr>Group Members:</vt:lpstr>
      <vt:lpstr>PUrPose of STUDY</vt:lpstr>
      <vt:lpstr>SURVEY DETAILS</vt:lpstr>
      <vt:lpstr>AI Tools in Student Learning</vt:lpstr>
      <vt:lpstr>Effectiveness Ratings:  AI vs Human Teachers:</vt:lpstr>
      <vt:lpstr>STUDENTS Learning preferenceS</vt:lpstr>
      <vt:lpstr>ideal teaching model for the future</vt:lpstr>
      <vt:lpstr>What Makes Human Teachers Irreplaceable?</vt:lpstr>
      <vt:lpstr>Summary of Findings</vt:lpstr>
      <vt:lpstr>Conclusion</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vs HUMAN TEACHING</dc:title>
  <dc:creator>Admin</dc:creator>
  <cp:lastModifiedBy>Nabeeha shoaib</cp:lastModifiedBy>
  <cp:revision>140</cp:revision>
  <dcterms:created xsi:type="dcterms:W3CDTF">2025-11-05T04:52:22Z</dcterms:created>
  <dcterms:modified xsi:type="dcterms:W3CDTF">2025-11-24T06:37:47Z</dcterms:modified>
</cp:coreProperties>
</file>